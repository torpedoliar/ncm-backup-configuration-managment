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>
  <p:sldMasterIdLst>
    <p:sldMasterId id="214748364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presProps" Target="presProps.xml" /><Relationship Id="rId10" Type="http://schemas.openxmlformats.org/officeDocument/2006/relationships/slide" Target="slides/slide5.xml" /><Relationship Id="rId11" Type="http://schemas.openxmlformats.org/officeDocument/2006/relationships/slide" Target="slides/slide6.xml" /><Relationship Id="rId12" Type="http://schemas.openxmlformats.org/officeDocument/2006/relationships/slide" Target="slides/slide7.xml" /><Relationship Id="rId13" Type="http://schemas.openxmlformats.org/officeDocument/2006/relationships/slide" Target="slides/slide8.xml" /><Relationship Id="rId14" Type="http://schemas.openxmlformats.org/officeDocument/2006/relationships/slide" Target="slides/slide9.xml" /><Relationship Id="rId15" Type="http://schemas.openxmlformats.org/officeDocument/2006/relationships/slide" Target="slides/slide10.xml" /><Relationship Id="rId16" Type="http://schemas.openxmlformats.org/officeDocument/2006/relationships/slide" Target="slides/slide11.xml" /><Relationship Id="rId2" Type="http://schemas.openxmlformats.org/officeDocument/2006/relationships/tableStyles" Target="tableStyles.xml" /><Relationship Id="rId3" Type="http://schemas.openxmlformats.org/officeDocument/2006/relationships/viewProps" Target="viewProps.xml" /><Relationship Id="rId4" Type="http://schemas.openxmlformats.org/officeDocument/2006/relationships/theme" Target="theme/theme1.xml" /><Relationship Id="rId5" Type="http://schemas.openxmlformats.org/officeDocument/2006/relationships/slideMaster" Target="slideMasters/slideMaster1.xml" /><Relationship Id="rId6" Type="http://schemas.openxmlformats.org/officeDocument/2006/relationships/slide" Target="slides/slide1.xml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slide" Target="slides/slide4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27.02.2014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В‹#В›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2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4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5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6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7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8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9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0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1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43694" y="1763065"/>
            <a:ext cx="10857034" cy="191052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2" b="1">
                <a:solidFill>
                  <a:srgbClr val="f3f4f6"/>
                </a:solidFill>
                <a:latin typeface="DejaVu Sans"/>
                <a:cs typeface="DejaVu Sans"/>
              </a:rPr>
              <a:t>Network</a:t>
            </a:r>
            <a:r>
              <a:rPr dirty="0" sz="4050" b="1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f3f4f6"/>
                </a:solidFill>
                <a:latin typeface="DejaVu Sans"/>
                <a:cs typeface="DejaVu Sans"/>
              </a:rPr>
              <a:t>Conﬁguration</a:t>
            </a:r>
            <a:r>
              <a:rPr dirty="0" sz="4050" b="1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4050" spc="-14" b="1">
                <a:solidFill>
                  <a:srgbClr val="f3f4f6"/>
                </a:solidFill>
                <a:latin typeface="DejaVu Sans"/>
                <a:cs typeface="DejaVu Sans"/>
              </a:rPr>
              <a:t>Management:</a:t>
            </a:r>
          </a:p>
          <a:p>
            <a:pPr marL="742801" marR="0">
              <a:lnSpc>
                <a:spcPts val="4693"/>
              </a:lnSpc>
              <a:spcBef>
                <a:spcPts val="331"/>
              </a:spcBef>
              <a:spcAft>
                <a:spcPts val="0"/>
              </a:spcAft>
            </a:pPr>
            <a:r>
              <a:rPr dirty="0" sz="4050" spc="-10" b="1">
                <a:solidFill>
                  <a:srgbClr val="22c55e"/>
                </a:solidFill>
                <a:latin typeface="DejaVu Sans"/>
                <a:cs typeface="DejaVu Sans"/>
              </a:rPr>
              <a:t>Solusi</a:t>
            </a:r>
            <a:r>
              <a:rPr dirty="0" sz="4050" b="1">
                <a:solidFill>
                  <a:srgbClr val="22c55e"/>
                </a:solidFill>
                <a:latin typeface="DejaVu Sans"/>
                <a:cs typeface="DejaVu Sans"/>
              </a:rPr>
              <a:t> </a:t>
            </a:r>
            <a:r>
              <a:rPr dirty="0" sz="4050" spc="-112" b="1">
                <a:solidFill>
                  <a:srgbClr val="22c55e"/>
                </a:solidFill>
                <a:latin typeface="DejaVu Sans"/>
                <a:cs typeface="DejaVu Sans"/>
              </a:rPr>
              <a:t>ATI</a:t>
            </a:r>
            <a:r>
              <a:rPr dirty="0" sz="4050" spc="100" b="1">
                <a:solidFill>
                  <a:srgbClr val="22c55e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22c55e"/>
                </a:solidFill>
                <a:latin typeface="DejaVu Sans"/>
                <a:cs typeface="DejaVu Sans"/>
              </a:rPr>
              <a:t>Backup</a:t>
            </a:r>
            <a:r>
              <a:rPr dirty="0" sz="4050" b="1">
                <a:solidFill>
                  <a:srgbClr val="22c55e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22c55e"/>
                </a:solidFill>
                <a:latin typeface="DejaVu Sans"/>
                <a:cs typeface="DejaVu Sans"/>
              </a:rPr>
              <a:t>Conﬁguration</a:t>
            </a:r>
          </a:p>
          <a:p>
            <a:pPr marL="1972716" marR="0">
              <a:lnSpc>
                <a:spcPts val="4693"/>
              </a:lnSpc>
              <a:spcBef>
                <a:spcPts val="331"/>
              </a:spcBef>
              <a:spcAft>
                <a:spcPts val="0"/>
              </a:spcAft>
            </a:pPr>
            <a:r>
              <a:rPr dirty="0" sz="4050" spc="-14" b="1">
                <a:solidFill>
                  <a:srgbClr val="22c55e"/>
                </a:solidFill>
                <a:latin typeface="DejaVu Sans"/>
                <a:cs typeface="DejaVu Sans"/>
              </a:rPr>
              <a:t>Management</a:t>
            </a:r>
            <a:r>
              <a:rPr dirty="0" sz="4050" b="1">
                <a:solidFill>
                  <a:srgbClr val="22c55e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22c55e"/>
                </a:solidFill>
                <a:latin typeface="DejaVu Sans"/>
                <a:cs typeface="DejaVu Sans"/>
              </a:rPr>
              <a:t>untuk</a:t>
            </a:r>
            <a:r>
              <a:rPr dirty="0" sz="4050" b="1">
                <a:solidFill>
                  <a:srgbClr val="22c55e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22c55e"/>
                </a:solidFill>
                <a:latin typeface="DejaVu Sans"/>
                <a:cs typeface="DejaVu Sans"/>
              </a:rPr>
              <a:t>SJA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44366" y="3943820"/>
            <a:ext cx="4774146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>
                <a:solidFill>
                  <a:srgbClr val="d1d5db"/>
                </a:solidFill>
                <a:latin typeface="DejaVu Sans"/>
                <a:cs typeface="DejaVu Sans"/>
              </a:rPr>
              <a:t>Aplikasi</a:t>
            </a:r>
            <a:r>
              <a:rPr dirty="0" sz="2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d1d5db"/>
                </a:solidFill>
                <a:latin typeface="DejaVu Sans"/>
                <a:cs typeface="DejaVu Sans"/>
              </a:rPr>
              <a:t>Pengembangan</a:t>
            </a:r>
            <a:r>
              <a:rPr dirty="0" sz="2000" spc="1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d1d5db"/>
                </a:solidFill>
                <a:latin typeface="DejaVu Sans"/>
                <a:cs typeface="DejaVu Sans"/>
              </a:rPr>
              <a:t>Internal</a:t>
            </a:r>
            <a:r>
              <a:rPr dirty="0" sz="2000">
                <a:solidFill>
                  <a:srgbClr val="d1d5db"/>
                </a:solidFill>
                <a:latin typeface="DejaVu Sans"/>
                <a:cs typeface="DejaVu Sans"/>
              </a:rPr>
              <a:t> </a:t>
            </a:r>
            <a:r>
              <a:rPr dirty="0" sz="2000" spc="-10">
                <a:solidFill>
                  <a:srgbClr val="d1d5db"/>
                </a:solidFill>
                <a:latin typeface="DejaVu Sans"/>
                <a:cs typeface="DejaVu Sans"/>
              </a:rPr>
              <a:t>SJA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994992" y="4791545"/>
            <a:ext cx="4354163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30">
                <a:solidFill>
                  <a:srgbClr val="f3f4f6"/>
                </a:solidFill>
                <a:latin typeface="DejaVu Sans"/>
                <a:cs typeface="DejaVu Sans"/>
              </a:rPr>
              <a:t>Yohanes</a:t>
            </a:r>
            <a:r>
              <a:rPr dirty="0" sz="2000" spc="43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f3f4f6"/>
                </a:solidFill>
                <a:latin typeface="DejaVu Sans"/>
                <a:cs typeface="DejaVu Sans"/>
              </a:rPr>
              <a:t>Octavian</a:t>
            </a:r>
            <a:r>
              <a:rPr dirty="0" sz="2000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2000" spc="-10">
                <a:solidFill>
                  <a:srgbClr val="f3f4f6"/>
                </a:solidFill>
                <a:latin typeface="DejaVu Sans"/>
                <a:cs typeface="DejaVu Sans"/>
              </a:rPr>
              <a:t>Rizky</a:t>
            </a:r>
            <a:r>
              <a:rPr dirty="0" sz="2000" spc="23">
                <a:solidFill>
                  <a:srgbClr val="f3f4f6"/>
                </a:solidFill>
                <a:latin typeface="DejaVu Sans"/>
                <a:cs typeface="DejaVu Sans"/>
              </a:rPr>
              <a:t> </a:t>
            </a:r>
            <a:r>
              <a:rPr dirty="0" sz="2000">
                <a:solidFill>
                  <a:srgbClr val="f3f4f6"/>
                </a:solidFill>
                <a:latin typeface="DejaVu Sans"/>
                <a:cs typeface="DejaVu Sans"/>
              </a:rPr>
              <a:t>Nugroho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8541766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61974" y="346209"/>
            <a:ext cx="11220238" cy="9137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4" b="1">
                <a:solidFill>
                  <a:srgbClr val="333333"/>
                </a:solidFill>
                <a:latin typeface="DejaVu Sans"/>
                <a:cs typeface="DejaVu Sans"/>
              </a:rPr>
              <a:t>Latar</a:t>
            </a:r>
            <a:r>
              <a:rPr dirty="0" sz="3000" b="1">
                <a:solidFill>
                  <a:srgbClr val="333333"/>
                </a:solidFill>
                <a:latin typeface="DejaVu Sans"/>
                <a:cs typeface="DejaVu Sans"/>
              </a:rPr>
              <a:t> </a:t>
            </a:r>
            <a:r>
              <a:rPr dirty="0" sz="3000" spc="15" b="1">
                <a:solidFill>
                  <a:srgbClr val="333333"/>
                </a:solidFill>
                <a:latin typeface="DejaVu Sans"/>
                <a:cs typeface="DejaVu Sans"/>
              </a:rPr>
              <a:t>Belakang:</a:t>
            </a:r>
            <a:r>
              <a:rPr dirty="0" sz="3000" b="1">
                <a:solidFill>
                  <a:srgbClr val="333333"/>
                </a:solidFill>
                <a:latin typeface="DejaVu Sans"/>
                <a:cs typeface="DejaVu Sans"/>
              </a:rPr>
              <a:t> </a:t>
            </a:r>
            <a:r>
              <a:rPr dirty="0" sz="3000" spc="-28" b="1">
                <a:solidFill>
                  <a:srgbClr val="333333"/>
                </a:solidFill>
                <a:latin typeface="DejaVu Sans"/>
                <a:cs typeface="DejaVu Sans"/>
              </a:rPr>
              <a:t>Tantangan</a:t>
            </a:r>
            <a:r>
              <a:rPr dirty="0" sz="3000" spc="54" b="1">
                <a:solidFill>
                  <a:srgbClr val="333333"/>
                </a:solidFill>
                <a:latin typeface="DejaVu Sans"/>
                <a:cs typeface="DejaVu Sans"/>
              </a:rPr>
              <a:t> </a:t>
            </a:r>
            <a:r>
              <a:rPr dirty="0" sz="3000" spc="17" b="1">
                <a:solidFill>
                  <a:srgbClr val="333333"/>
                </a:solidFill>
                <a:latin typeface="DejaVu Sans"/>
                <a:cs typeface="DejaVu Sans"/>
              </a:rPr>
              <a:t>Manajemen</a:t>
            </a:r>
            <a:r>
              <a:rPr dirty="0" sz="3000" b="1">
                <a:solidFill>
                  <a:srgbClr val="333333"/>
                </a:solidFill>
                <a:latin typeface="DejaVu Sans"/>
                <a:cs typeface="DejaVu Sans"/>
              </a:rPr>
              <a:t> </a:t>
            </a:r>
            <a:r>
              <a:rPr dirty="0" sz="3000" spc="10" b="1">
                <a:solidFill>
                  <a:srgbClr val="333333"/>
                </a:solidFill>
                <a:latin typeface="DejaVu Sans"/>
                <a:cs typeface="DejaVu Sans"/>
              </a:rPr>
              <a:t>Konﬁgurasi</a:t>
            </a:r>
          </a:p>
          <a:p>
            <a:pPr marL="3936950" marR="0">
              <a:lnSpc>
                <a:spcPts val="3375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2" b="1">
                <a:solidFill>
                  <a:srgbClr val="333333"/>
                </a:solidFill>
                <a:latin typeface="DejaVu Sans"/>
                <a:cs typeface="DejaVu Sans"/>
              </a:rPr>
              <a:t>Jaringan</a:t>
            </a:r>
            <a:r>
              <a:rPr dirty="0" sz="3000" spc="11" b="1">
                <a:solidFill>
                  <a:srgbClr val="333333"/>
                </a:solidFill>
                <a:latin typeface="DejaVu Sans"/>
                <a:cs typeface="DejaVu Sans"/>
              </a:rPr>
              <a:t> </a:t>
            </a:r>
            <a:r>
              <a:rPr dirty="0" sz="3000" spc="17" b="1">
                <a:solidFill>
                  <a:srgbClr val="333333"/>
                </a:solidFill>
                <a:latin typeface="DejaVu Sans"/>
                <a:cs typeface="DejaVu Sans"/>
              </a:rPr>
              <a:t>di</a:t>
            </a:r>
            <a:r>
              <a:rPr dirty="0" sz="3000" b="1">
                <a:solidFill>
                  <a:srgbClr val="333333"/>
                </a:solidFill>
                <a:latin typeface="DejaVu Sans"/>
                <a:cs typeface="DejaVu Sans"/>
              </a:rPr>
              <a:t> </a:t>
            </a:r>
            <a:r>
              <a:rPr dirty="0" sz="3000" spc="12" b="1">
                <a:solidFill>
                  <a:srgbClr val="333333"/>
                </a:solidFill>
                <a:latin typeface="DejaVu Sans"/>
                <a:cs typeface="DejaVu Sans"/>
              </a:rPr>
              <a:t>SJA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92125" y="1752420"/>
            <a:ext cx="4054749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4" b="1">
                <a:solidFill>
                  <a:srgbClr val="333333"/>
                </a:solidFill>
                <a:latin typeface="DejaVu Sans"/>
                <a:cs typeface="DejaVu Sans"/>
              </a:rPr>
              <a:t>Banyak</a:t>
            </a:r>
            <a:r>
              <a:rPr dirty="0" sz="1700" b="1">
                <a:solidFill>
                  <a:srgbClr val="333333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333333"/>
                </a:solidFill>
                <a:latin typeface="DejaVu Sans"/>
                <a:cs typeface="DejaVu Sans"/>
              </a:rPr>
              <a:t>Switch,</a:t>
            </a:r>
            <a:r>
              <a:rPr dirty="0" sz="1700" b="1">
                <a:solidFill>
                  <a:srgbClr val="333333"/>
                </a:solidFill>
                <a:latin typeface="DejaVu Sans"/>
                <a:cs typeface="DejaVu Sans"/>
              </a:rPr>
              <a:t> </a:t>
            </a:r>
            <a:r>
              <a:rPr dirty="0" sz="1700" spc="-17" b="1">
                <a:solidFill>
                  <a:srgbClr val="333333"/>
                </a:solidFill>
                <a:latin typeface="DejaVu Sans"/>
                <a:cs typeface="DejaVu Sans"/>
              </a:rPr>
              <a:t>Konﬁgurasi</a:t>
            </a:r>
            <a:r>
              <a:rPr dirty="0" sz="1700" b="1">
                <a:solidFill>
                  <a:srgbClr val="333333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333333"/>
                </a:solidFill>
                <a:latin typeface="DejaVu Sans"/>
                <a:cs typeface="DejaVu Sans"/>
              </a:rPr>
              <a:t>Unik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35117" y="1752420"/>
            <a:ext cx="3731220" cy="5912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 b="1">
                <a:solidFill>
                  <a:srgbClr val="333333"/>
                </a:solidFill>
                <a:latin typeface="DejaVu Sans"/>
                <a:cs typeface="DejaVu Sans"/>
              </a:rPr>
              <a:t>Tidak</a:t>
            </a:r>
            <a:r>
              <a:rPr dirty="0" sz="1700" b="1">
                <a:solidFill>
                  <a:srgbClr val="333333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333333"/>
                </a:solidFill>
                <a:latin typeface="DejaVu Sans"/>
                <a:cs typeface="DejaVu Sans"/>
              </a:rPr>
              <a:t>Ada</a:t>
            </a:r>
            <a:r>
              <a:rPr dirty="0" sz="1700" b="1">
                <a:solidFill>
                  <a:srgbClr val="333333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333333"/>
                </a:solidFill>
                <a:latin typeface="DejaVu Sans"/>
                <a:cs typeface="DejaVu Sans"/>
              </a:rPr>
              <a:t>Backup</a:t>
            </a:r>
            <a:r>
              <a:rPr dirty="0" sz="1700" b="1">
                <a:solidFill>
                  <a:srgbClr val="333333"/>
                </a:solidFill>
                <a:latin typeface="DejaVu Sans"/>
                <a:cs typeface="DejaVu Sans"/>
              </a:rPr>
              <a:t> </a:t>
            </a:r>
            <a:r>
              <a:rPr dirty="0" sz="1700" spc="-12" b="1">
                <a:solidFill>
                  <a:srgbClr val="333333"/>
                </a:solidFill>
                <a:latin typeface="DejaVu Sans"/>
                <a:cs typeface="DejaVu Sans"/>
              </a:rPr>
              <a:t>Otomatis</a:t>
            </a:r>
            <a:r>
              <a:rPr dirty="0" sz="1700" b="1">
                <a:solidFill>
                  <a:srgbClr val="333333"/>
                </a:solidFill>
                <a:latin typeface="DejaVu Sans"/>
                <a:cs typeface="DejaVu Sans"/>
              </a:rPr>
              <a:t> </a:t>
            </a:r>
            <a:r>
              <a:rPr dirty="0" sz="1700" b="1">
                <a:solidFill>
                  <a:srgbClr val="333333"/>
                </a:solidFill>
                <a:latin typeface="DejaVu Sans"/>
                <a:cs typeface="DejaVu Sans"/>
              </a:rPr>
              <a:t>&amp;</a:t>
            </a:r>
          </a:p>
          <a:p>
            <a:pPr marL="0" marR="0">
              <a:lnSpc>
                <a:spcPts val="1955"/>
              </a:lnSpc>
              <a:spcBef>
                <a:spcPts val="444"/>
              </a:spcBef>
              <a:spcAft>
                <a:spcPts val="0"/>
              </a:spcAft>
            </a:pPr>
            <a:r>
              <a:rPr dirty="0" sz="1700" spc="-40" b="1">
                <a:solidFill>
                  <a:srgbClr val="333333"/>
                </a:solidFill>
                <a:latin typeface="DejaVu Sans"/>
                <a:cs typeface="DejaVu Sans"/>
              </a:rPr>
              <a:t>Terpusat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92125" y="2144454"/>
            <a:ext cx="4360660" cy="48444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37232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Manajemen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beragam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perangkat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jaringan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yang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dirty="0" sz="1350" spc="-10">
                <a:solidFill>
                  <a:srgbClr val="374151"/>
                </a:solidFill>
                <a:latin typeface="DejaVu Sans"/>
                <a:cs typeface="DejaVu Sans"/>
              </a:rPr>
              <a:t>kompleks.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372349" y="2439729"/>
            <a:ext cx="3981133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spc="-12">
                <a:solidFill>
                  <a:srgbClr val="374151"/>
                </a:solidFill>
                <a:latin typeface="DejaVu Sans"/>
                <a:cs typeface="DejaVu Sans"/>
              </a:rPr>
              <a:t>Risiko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tinggi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kehilangan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konﬁgurasi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jaringan.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92125" y="2696904"/>
            <a:ext cx="4001131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37232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Setiap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switch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memiliki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konﬁgurasi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spesiﬁk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sendiri.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135117" y="2735004"/>
            <a:ext cx="3741890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37232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Membutuhkan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pemulihan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manual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yang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memakan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waktu.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292125" y="4019370"/>
            <a:ext cx="4329532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27" b="1">
                <a:solidFill>
                  <a:srgbClr val="333333"/>
                </a:solidFill>
                <a:latin typeface="DejaVu Sans"/>
                <a:cs typeface="DejaVu Sans"/>
              </a:rPr>
              <a:t>Pain</a:t>
            </a:r>
            <a:r>
              <a:rPr dirty="0" sz="1700" b="1">
                <a:solidFill>
                  <a:srgbClr val="333333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333333"/>
                </a:solidFill>
                <a:latin typeface="DejaVu Sans"/>
                <a:cs typeface="DejaVu Sans"/>
              </a:rPr>
              <a:t>Point:</a:t>
            </a:r>
            <a:r>
              <a:rPr dirty="0" sz="1700" b="1">
                <a:solidFill>
                  <a:srgbClr val="333333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333333"/>
                </a:solidFill>
                <a:latin typeface="DejaVu Sans"/>
                <a:cs typeface="DejaVu Sans"/>
              </a:rPr>
              <a:t>Kehilangan</a:t>
            </a:r>
            <a:r>
              <a:rPr dirty="0" sz="1700" b="1">
                <a:solidFill>
                  <a:srgbClr val="333333"/>
                </a:solidFill>
                <a:latin typeface="DejaVu Sans"/>
                <a:cs typeface="DejaVu Sans"/>
              </a:rPr>
              <a:t> </a:t>
            </a:r>
            <a:r>
              <a:rPr dirty="0" sz="1700" spc="-17" b="1">
                <a:solidFill>
                  <a:srgbClr val="333333"/>
                </a:solidFill>
                <a:latin typeface="DejaVu Sans"/>
                <a:cs typeface="DejaVu Sans"/>
              </a:rPr>
              <a:t>Konﬁgurasi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135117" y="4019370"/>
            <a:ext cx="3975833" cy="58173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8" b="1">
                <a:solidFill>
                  <a:srgbClr val="333333"/>
                </a:solidFill>
                <a:latin typeface="DejaVu Sans"/>
                <a:cs typeface="DejaVu Sans"/>
              </a:rPr>
              <a:t>Kebutuhan</a:t>
            </a:r>
            <a:r>
              <a:rPr dirty="0" sz="1700" b="1">
                <a:solidFill>
                  <a:srgbClr val="333333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333333"/>
                </a:solidFill>
                <a:latin typeface="DejaVu Sans"/>
                <a:cs typeface="DejaVu Sans"/>
              </a:rPr>
              <a:t>Solusi:</a:t>
            </a:r>
            <a:r>
              <a:rPr dirty="0" sz="1700" b="1">
                <a:solidFill>
                  <a:srgbClr val="333333"/>
                </a:solidFill>
                <a:latin typeface="DejaVu Sans"/>
                <a:cs typeface="DejaVu Sans"/>
              </a:rPr>
              <a:t> </a:t>
            </a:r>
            <a:r>
              <a:rPr dirty="0" sz="1700" spc="-14" b="1">
                <a:solidFill>
                  <a:srgbClr val="333333"/>
                </a:solidFill>
                <a:latin typeface="DejaVu Sans"/>
                <a:cs typeface="DejaVu Sans"/>
              </a:rPr>
              <a:t>Sederhana</a:t>
            </a:r>
            <a:r>
              <a:rPr dirty="0" sz="1700" b="1">
                <a:solidFill>
                  <a:srgbClr val="333333"/>
                </a:solidFill>
                <a:latin typeface="DejaVu Sans"/>
                <a:cs typeface="DejaVu Sans"/>
              </a:rPr>
              <a:t> </a:t>
            </a:r>
            <a:r>
              <a:rPr dirty="0" sz="1700" b="1">
                <a:solidFill>
                  <a:srgbClr val="333333"/>
                </a:solidFill>
                <a:latin typeface="DejaVu Sans"/>
                <a:cs typeface="DejaVu Sans"/>
              </a:rPr>
              <a:t>&amp;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dirty="0" sz="1700" spc="-15" b="1">
                <a:solidFill>
                  <a:srgbClr val="333333"/>
                </a:solidFill>
                <a:latin typeface="DejaVu Sans"/>
                <a:cs typeface="DejaVu Sans"/>
              </a:rPr>
              <a:t>Handal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292125" y="4401879"/>
            <a:ext cx="4232324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37232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Dampak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operasional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signiﬁkan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pada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layanan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Network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 spc="-20">
                <a:solidFill>
                  <a:srgbClr val="374151"/>
                </a:solidFill>
                <a:latin typeface="DejaVu Sans"/>
                <a:cs typeface="DejaVu Sans"/>
              </a:rPr>
              <a:t>SJA.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372349" y="4697154"/>
            <a:ext cx="3258277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Mencari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solusi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yang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mudah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dikelola.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292125" y="4954329"/>
            <a:ext cx="4211250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37232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spc="-15">
                <a:solidFill>
                  <a:srgbClr val="374151"/>
                </a:solidFill>
                <a:latin typeface="DejaVu Sans"/>
                <a:cs typeface="DejaVu Sans"/>
              </a:rPr>
              <a:t>Proses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penggantian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perangkat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menjadi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lebih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sulit.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372349" y="5001954"/>
            <a:ext cx="414145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Memastikan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stabilitas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dan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 spc="-11">
                <a:solidFill>
                  <a:srgbClr val="374151"/>
                </a:solidFill>
                <a:latin typeface="DejaVu Sans"/>
                <a:cs typeface="DejaVu Sans"/>
              </a:rPr>
              <a:t>keamanan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jaringan.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499889" y="7964984"/>
            <a:ext cx="350156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0">
                <a:solidFill>
                  <a:srgbClr val="adb5bd"/>
                </a:solidFill>
                <a:latin typeface="DejaVu Sans"/>
                <a:cs typeface="DejaVu Sans"/>
              </a:rPr>
              <a:t>Ilustrasi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adb5bd"/>
                </a:solidFill>
                <a:latin typeface="DejaVu Sans"/>
                <a:cs typeface="DejaVu Sans"/>
              </a:rPr>
              <a:t>Sistem</a:t>
            </a:r>
            <a:r>
              <a:rPr dirty="0" sz="1200" spc="-2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21">
                <a:solidFill>
                  <a:srgbClr val="adb5bd"/>
                </a:solidFill>
                <a:latin typeface="DejaVu Sans"/>
                <a:cs typeface="DejaVu Sans"/>
              </a:rPr>
              <a:t>Backup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adb5bd"/>
                </a:solidFill>
                <a:latin typeface="DejaVu Sans"/>
                <a:cs typeface="DejaVu Sans"/>
              </a:rPr>
              <a:t>Konﬁgurasi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adb5bd"/>
                </a:solidFill>
                <a:latin typeface="DejaVu Sans"/>
                <a:cs typeface="DejaVu Sans"/>
              </a:rPr>
              <a:t>Otomatis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9180576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900511" y="356369"/>
            <a:ext cx="6543185" cy="485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4" b="1">
                <a:solidFill>
                  <a:srgbClr val="1e293b"/>
                </a:solidFill>
                <a:latin typeface="DejaVu Sans"/>
                <a:cs typeface="DejaVu Sans"/>
              </a:rPr>
              <a:t>Solusi</a:t>
            </a:r>
            <a:r>
              <a:rPr dirty="0" sz="30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3000" spc="15" b="1">
                <a:solidFill>
                  <a:srgbClr val="1e293b"/>
                </a:solidFill>
                <a:latin typeface="DejaVu Sans"/>
                <a:cs typeface="DejaVu Sans"/>
              </a:rPr>
              <a:t>yang</a:t>
            </a:r>
            <a:r>
              <a:rPr dirty="0" sz="30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3000" spc="15" b="1">
                <a:solidFill>
                  <a:srgbClr val="1e293b"/>
                </a:solidFill>
                <a:latin typeface="DejaVu Sans"/>
                <a:cs typeface="DejaVu Sans"/>
              </a:rPr>
              <a:t>Dipertimbangkan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31676" y="1257755"/>
            <a:ext cx="3524982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 b="1">
                <a:solidFill>
                  <a:srgbClr val="1e293b"/>
                </a:solidFill>
                <a:latin typeface="DejaVu Sans"/>
                <a:cs typeface="DejaVu Sans"/>
              </a:rPr>
              <a:t>Allied</a:t>
            </a:r>
            <a:r>
              <a:rPr dirty="0" sz="1700" spc="-11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1700" spc="-41" b="1">
                <a:solidFill>
                  <a:srgbClr val="1e293b"/>
                </a:solidFill>
                <a:latin typeface="DejaVu Sans"/>
                <a:cs typeface="DejaVu Sans"/>
              </a:rPr>
              <a:t>Telesis</a:t>
            </a:r>
            <a:r>
              <a:rPr dirty="0" sz="1700" spc="21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1700" spc="-18" b="1">
                <a:solidFill>
                  <a:srgbClr val="1e293b"/>
                </a:solidFill>
                <a:latin typeface="DejaVu Sans"/>
                <a:cs typeface="DejaVu Sans"/>
              </a:rPr>
              <a:t>Vista</a:t>
            </a:r>
            <a:r>
              <a:rPr dirty="0" sz="17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1700" spc="-15" b="1">
                <a:solidFill>
                  <a:srgbClr val="1e293b"/>
                </a:solidFill>
                <a:latin typeface="DejaVu Sans"/>
                <a:cs typeface="DejaVu Sans"/>
              </a:rPr>
              <a:t>Manager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16625" y="1257755"/>
            <a:ext cx="3975058" cy="10524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58042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1" b="1">
                <a:solidFill>
                  <a:srgbClr val="1e293b"/>
                </a:solidFill>
                <a:latin typeface="DejaVu Sans"/>
                <a:cs typeface="DejaVu Sans"/>
              </a:rPr>
              <a:t>Aplikasi</a:t>
            </a:r>
            <a:r>
              <a:rPr dirty="0" sz="17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1700" spc="-11" b="1">
                <a:solidFill>
                  <a:srgbClr val="1e293b"/>
                </a:solidFill>
                <a:latin typeface="DejaVu Sans"/>
                <a:cs typeface="DejaVu Sans"/>
              </a:rPr>
              <a:t>Internal</a:t>
            </a:r>
            <a:r>
              <a:rPr dirty="0" sz="17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1700" spc="-43" b="1">
                <a:solidFill>
                  <a:srgbClr val="1e293b"/>
                </a:solidFill>
                <a:latin typeface="DejaVu Sans"/>
                <a:cs typeface="DejaVu Sans"/>
              </a:rPr>
              <a:t>(ATI</a:t>
            </a:r>
            <a:r>
              <a:rPr dirty="0" sz="1700" spc="28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1700" spc="-17" b="1">
                <a:solidFill>
                  <a:srgbClr val="1e293b"/>
                </a:solidFill>
                <a:latin typeface="DejaVu Sans"/>
                <a:cs typeface="DejaVu Sans"/>
              </a:rPr>
              <a:t>BCM)</a:t>
            </a:r>
          </a:p>
          <a:p>
            <a:pPr marL="47450" marR="0">
              <a:lnSpc>
                <a:spcPts val="1368"/>
              </a:lnSpc>
              <a:spcBef>
                <a:spcPts val="1612"/>
              </a:spcBef>
              <a:spcAft>
                <a:spcPts val="0"/>
              </a:spcAft>
            </a:pPr>
            <a:r>
              <a:rPr dirty="0" sz="1200" spc="-34">
                <a:solidFill>
                  <a:srgbClr val="166534"/>
                </a:solidFill>
                <a:latin typeface="DejaVu Sans"/>
                <a:cs typeface="DejaVu Sans"/>
              </a:rPr>
              <a:t>Fokus</a:t>
            </a:r>
            <a:r>
              <a:rPr dirty="0" sz="1200" spc="14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dirty="0" sz="1200" spc="-21">
                <a:solidFill>
                  <a:srgbClr val="166534"/>
                </a:solidFill>
                <a:latin typeface="DejaVu Sans"/>
                <a:cs typeface="DejaVu Sans"/>
              </a:rPr>
              <a:t>Kebutuhan</a:t>
            </a:r>
            <a:r>
              <a:rPr dirty="0" sz="120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166534"/>
                </a:solidFill>
                <a:latin typeface="DejaVu Sans"/>
                <a:cs typeface="DejaVu Sans"/>
              </a:rPr>
              <a:t>Operasional</a:t>
            </a:r>
            <a:r>
              <a:rPr dirty="0" sz="120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166534"/>
                </a:solidFill>
                <a:latin typeface="DejaVu Sans"/>
                <a:cs typeface="DejaVu Sans"/>
              </a:rPr>
              <a:t>Jarungan</a:t>
            </a:r>
            <a:r>
              <a:rPr dirty="0" sz="1200" spc="-1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166534"/>
                </a:solidFill>
                <a:latin typeface="DejaVu Sans"/>
                <a:cs typeface="DejaVu Sans"/>
              </a:rPr>
              <a:t>Krusial</a:t>
            </a:r>
            <a:r>
              <a:rPr dirty="0" sz="120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dirty="0" sz="1200" spc="-21">
                <a:solidFill>
                  <a:srgbClr val="166534"/>
                </a:solidFill>
                <a:latin typeface="DejaVu Sans"/>
                <a:cs typeface="DejaVu Sans"/>
              </a:rPr>
              <a:t>SJA</a:t>
            </a:r>
          </a:p>
          <a:p>
            <a:pPr marL="0" marR="0">
              <a:lnSpc>
                <a:spcPts val="1368"/>
              </a:lnSpc>
              <a:spcBef>
                <a:spcPts val="1631"/>
              </a:spcBef>
              <a:spcAft>
                <a:spcPts val="0"/>
              </a:spcAft>
            </a:pPr>
            <a:r>
              <a:rPr dirty="0" sz="1200" spc="-14">
                <a:solidFill>
                  <a:srgbClr val="166534"/>
                </a:solidFill>
                <a:latin typeface="DejaVu Sans"/>
                <a:cs typeface="DejaVu Sans"/>
              </a:rPr>
              <a:t>Dirancang</a:t>
            </a:r>
            <a:r>
              <a:rPr dirty="0" sz="1200" spc="-1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166534"/>
                </a:solidFill>
                <a:latin typeface="DejaVu Sans"/>
                <a:cs typeface="DejaVu Sans"/>
              </a:rPr>
              <a:t>Spesiﬁk</a:t>
            </a:r>
            <a:r>
              <a:rPr dirty="0" sz="120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166534"/>
                </a:solidFill>
                <a:latin typeface="DejaVu Sans"/>
                <a:cs typeface="DejaVu Sans"/>
              </a:rPr>
              <a:t>untuk</a:t>
            </a:r>
            <a:r>
              <a:rPr dirty="0" sz="120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dirty="0" sz="1200" spc="-21">
                <a:solidFill>
                  <a:srgbClr val="166534"/>
                </a:solidFill>
                <a:latin typeface="DejaVu Sans"/>
                <a:cs typeface="DejaVu Sans"/>
              </a:rPr>
              <a:t>SJA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21083" y="1717219"/>
            <a:ext cx="169090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33">
                <a:solidFill>
                  <a:srgbClr val="1e40af"/>
                </a:solidFill>
                <a:latin typeface="DejaVu Sans"/>
                <a:cs typeface="DejaVu Sans"/>
              </a:rPr>
              <a:t>Fitur</a:t>
            </a:r>
            <a:r>
              <a:rPr dirty="0" sz="1200" spc="15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1e40af"/>
                </a:solidFill>
                <a:latin typeface="DejaVu Sans"/>
                <a:cs typeface="DejaVu Sans"/>
              </a:rPr>
              <a:t>Enterprise</a:t>
            </a:r>
            <a:r>
              <a:rPr dirty="0" sz="1200" spc="-1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1e40af"/>
                </a:solidFill>
                <a:latin typeface="DejaVu Sans"/>
                <a:cs typeface="DejaVu Sans"/>
              </a:rPr>
              <a:t>NCM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73633" y="2098219"/>
            <a:ext cx="2607954" cy="592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1e40af"/>
                </a:solidFill>
                <a:latin typeface="DejaVu Sans"/>
                <a:cs typeface="DejaVu Sans"/>
              </a:rPr>
              <a:t>Manajemen</a:t>
            </a:r>
            <a:r>
              <a:rPr dirty="0" sz="120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1e40af"/>
                </a:solidFill>
                <a:latin typeface="DejaVu Sans"/>
                <a:cs typeface="DejaVu Sans"/>
              </a:rPr>
              <a:t>Jaringan</a:t>
            </a:r>
            <a:r>
              <a:rPr dirty="0" sz="1200" spc="-1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1e40af"/>
                </a:solidFill>
                <a:latin typeface="DejaVu Sans"/>
                <a:cs typeface="DejaVu Sans"/>
              </a:rPr>
              <a:t>Skala</a:t>
            </a:r>
            <a:r>
              <a:rPr dirty="0" sz="120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1e40af"/>
                </a:solidFill>
                <a:latin typeface="DejaVu Sans"/>
                <a:cs typeface="DejaVu Sans"/>
              </a:rPr>
              <a:t>Besar</a:t>
            </a:r>
          </a:p>
          <a:p>
            <a:pPr marL="0" marR="0">
              <a:lnSpc>
                <a:spcPts val="1368"/>
              </a:lnSpc>
              <a:spcBef>
                <a:spcPts val="1631"/>
              </a:spcBef>
              <a:spcAft>
                <a:spcPts val="0"/>
              </a:spcAft>
            </a:pPr>
            <a:r>
              <a:rPr dirty="0" sz="1200" spc="-12">
                <a:solidFill>
                  <a:srgbClr val="1e40af"/>
                </a:solidFill>
                <a:latin typeface="DejaVu Sans"/>
                <a:cs typeface="DejaVu Sans"/>
              </a:rPr>
              <a:t>Solusi</a:t>
            </a:r>
            <a:r>
              <a:rPr dirty="0" sz="120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dirty="0" sz="1200" spc="-28">
                <a:solidFill>
                  <a:srgbClr val="1e40af"/>
                </a:solidFill>
                <a:latin typeface="DejaVu Sans"/>
                <a:cs typeface="DejaVu Sans"/>
              </a:rPr>
              <a:t>Terintegrasi</a:t>
            </a:r>
            <a:r>
              <a:rPr dirty="0" sz="1200" spc="14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dirty="0" sz="1200" spc="-25">
                <a:solidFill>
                  <a:srgbClr val="1e40af"/>
                </a:solidFill>
                <a:latin typeface="DejaVu Sans"/>
                <a:cs typeface="DejaVu Sans"/>
              </a:rPr>
              <a:t>Penuh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816625" y="2479219"/>
            <a:ext cx="302821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1">
                <a:solidFill>
                  <a:srgbClr val="166534"/>
                </a:solidFill>
                <a:latin typeface="DejaVu Sans"/>
                <a:cs typeface="DejaVu Sans"/>
              </a:rPr>
              <a:t>Efektif</a:t>
            </a:r>
            <a:r>
              <a:rPr dirty="0" sz="120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166534"/>
                </a:solidFill>
                <a:latin typeface="DejaVu Sans"/>
                <a:cs typeface="DejaVu Sans"/>
              </a:rPr>
              <a:t>Biaya</a:t>
            </a:r>
            <a:r>
              <a:rPr dirty="0" sz="1200" spc="-1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166534"/>
                </a:solidFill>
                <a:latin typeface="DejaVu Sans"/>
                <a:cs typeface="DejaVu Sans"/>
              </a:rPr>
              <a:t>&amp;</a:t>
            </a:r>
            <a:r>
              <a:rPr dirty="0" sz="1200" spc="-27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166534"/>
                </a:solidFill>
                <a:latin typeface="DejaVu Sans"/>
                <a:cs typeface="DejaVu Sans"/>
              </a:rPr>
              <a:t>Mudah</a:t>
            </a:r>
            <a:r>
              <a:rPr dirty="0" sz="120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166534"/>
                </a:solidFill>
                <a:latin typeface="DejaVu Sans"/>
                <a:cs typeface="DejaVu Sans"/>
              </a:rPr>
              <a:t>Diimplementasi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65435" y="6278185"/>
            <a:ext cx="2092555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e293b"/>
                </a:solidFill>
                <a:latin typeface="DejaVu Sans"/>
                <a:cs typeface="DejaVu Sans"/>
              </a:rPr>
              <a:t>Perbedaan</a:t>
            </a:r>
            <a:r>
              <a:rPr dirty="0" sz="1500" b="1">
                <a:solidFill>
                  <a:srgbClr val="1e293b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1e293b"/>
                </a:solidFill>
                <a:latin typeface="DejaVu Sans"/>
                <a:cs typeface="DejaVu Sans"/>
              </a:rPr>
              <a:t>Utama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51556" y="6641644"/>
            <a:ext cx="3913122" cy="640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 b="1">
                <a:solidFill>
                  <a:srgbClr val="15803d"/>
                </a:solidFill>
                <a:latin typeface="DejaVu Sans"/>
                <a:cs typeface="DejaVu Sans"/>
              </a:rPr>
              <a:t>Vista</a:t>
            </a:r>
            <a:r>
              <a:rPr dirty="0" sz="1200" b="1">
                <a:solidFill>
                  <a:srgbClr val="15803d"/>
                </a:solidFill>
                <a:latin typeface="DejaVu Sans"/>
                <a:cs typeface="DejaVu Sans"/>
              </a:rPr>
              <a:t> </a:t>
            </a:r>
            <a:r>
              <a:rPr dirty="0" sz="1200" spc="-17" b="1">
                <a:solidFill>
                  <a:srgbClr val="15803d"/>
                </a:solidFill>
                <a:latin typeface="DejaVu Sans"/>
                <a:cs typeface="DejaVu Sans"/>
              </a:rPr>
              <a:t>Manager:</a:t>
            </a:r>
            <a:r>
              <a:rPr dirty="0" sz="1200" spc="-36" b="1">
                <a:solidFill>
                  <a:srgbClr val="15803d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334155"/>
                </a:solidFill>
                <a:latin typeface="DejaVu Sans"/>
                <a:cs typeface="DejaVu Sans"/>
              </a:rPr>
              <a:t>Menawarkan</a:t>
            </a:r>
            <a:r>
              <a:rPr dirty="0" sz="12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334155"/>
                </a:solidFill>
                <a:latin typeface="DejaVu Sans"/>
                <a:cs typeface="DejaVu Sans"/>
              </a:rPr>
              <a:t>cakupan</a:t>
            </a:r>
            <a:r>
              <a:rPr dirty="0" sz="12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334155"/>
                </a:solidFill>
                <a:latin typeface="DejaVu Sans"/>
                <a:cs typeface="DejaVu Sans"/>
              </a:rPr>
              <a:t>luas,</a:t>
            </a:r>
            <a:r>
              <a:rPr dirty="0" sz="12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334155"/>
                </a:solidFill>
                <a:latin typeface="DejaVu Sans"/>
                <a:cs typeface="DejaVu Sans"/>
              </a:rPr>
              <a:t>ideal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4">
                <a:solidFill>
                  <a:srgbClr val="334155"/>
                </a:solidFill>
                <a:latin typeface="DejaVu Sans"/>
                <a:cs typeface="DejaVu Sans"/>
              </a:rPr>
              <a:t>untuk</a:t>
            </a:r>
            <a:r>
              <a:rPr dirty="0" sz="12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334155"/>
                </a:solidFill>
                <a:latin typeface="DejaVu Sans"/>
                <a:cs typeface="DejaVu Sans"/>
              </a:rPr>
              <a:t>infrastruktur</a:t>
            </a:r>
            <a:r>
              <a:rPr dirty="0" sz="12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334155"/>
                </a:solidFill>
                <a:latin typeface="DejaVu Sans"/>
                <a:cs typeface="DejaVu Sans"/>
              </a:rPr>
              <a:t>jaringan</a:t>
            </a:r>
            <a:r>
              <a:rPr dirty="0" sz="1200" spc="-1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334155"/>
                </a:solidFill>
                <a:latin typeface="DejaVu Sans"/>
                <a:cs typeface="DejaVu Sans"/>
              </a:rPr>
              <a:t>kompleks</a:t>
            </a:r>
            <a:r>
              <a:rPr dirty="0" sz="12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334155"/>
                </a:solidFill>
                <a:latin typeface="DejaVu Sans"/>
                <a:cs typeface="DejaVu Sans"/>
              </a:rPr>
              <a:t>dan</a:t>
            </a:r>
            <a:r>
              <a:rPr dirty="0" sz="12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334155"/>
                </a:solidFill>
                <a:latin typeface="DejaVu Sans"/>
                <a:cs typeface="DejaVu Sans"/>
              </a:rPr>
              <a:t>skala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2">
                <a:solidFill>
                  <a:srgbClr val="334155"/>
                </a:solidFill>
                <a:latin typeface="DejaVu Sans"/>
                <a:cs typeface="DejaVu Sans"/>
              </a:rPr>
              <a:t>enterprise.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51556" y="7365544"/>
            <a:ext cx="3430749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63" b="1">
                <a:solidFill>
                  <a:srgbClr val="1d4ed8"/>
                </a:solidFill>
                <a:latin typeface="DejaVu Sans"/>
                <a:cs typeface="DejaVu Sans"/>
              </a:rPr>
              <a:t>ATI</a:t>
            </a:r>
            <a:r>
              <a:rPr dirty="0" sz="1200" spc="46" b="1">
                <a:solidFill>
                  <a:srgbClr val="1d4ed8"/>
                </a:solidFill>
                <a:latin typeface="DejaVu Sans"/>
                <a:cs typeface="DejaVu Sans"/>
              </a:rPr>
              <a:t> </a:t>
            </a:r>
            <a:r>
              <a:rPr dirty="0" sz="1200" spc="-20" b="1">
                <a:solidFill>
                  <a:srgbClr val="1d4ed8"/>
                </a:solidFill>
                <a:latin typeface="DejaVu Sans"/>
                <a:cs typeface="DejaVu Sans"/>
              </a:rPr>
              <a:t>BCM:</a:t>
            </a:r>
            <a:r>
              <a:rPr dirty="0" sz="1200" spc="-33" b="1">
                <a:solidFill>
                  <a:srgbClr val="1d4ed8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334155"/>
                </a:solidFill>
                <a:latin typeface="DejaVu Sans"/>
                <a:cs typeface="DejaVu Sans"/>
              </a:rPr>
              <a:t>Disempurnakan</a:t>
            </a:r>
            <a:r>
              <a:rPr dirty="0" sz="12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334155"/>
                </a:solidFill>
                <a:latin typeface="DejaVu Sans"/>
                <a:cs typeface="DejaVu Sans"/>
              </a:rPr>
              <a:t>untuk</a:t>
            </a:r>
            <a:r>
              <a:rPr dirty="0" sz="12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334155"/>
                </a:solidFill>
                <a:latin typeface="DejaVu Sans"/>
                <a:cs typeface="DejaVu Sans"/>
              </a:rPr>
              <a:t>fungsi</a:t>
            </a:r>
            <a:r>
              <a:rPr dirty="0" sz="12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334155"/>
                </a:solidFill>
                <a:latin typeface="DejaVu Sans"/>
                <a:cs typeface="DejaVu Sans"/>
              </a:rPr>
              <a:t>inti,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51556" y="7584619"/>
            <a:ext cx="2988715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334155"/>
                </a:solidFill>
                <a:latin typeface="DejaVu Sans"/>
                <a:cs typeface="DejaVu Sans"/>
              </a:rPr>
              <a:t>mengoptimalkan</a:t>
            </a:r>
            <a:r>
              <a:rPr dirty="0" sz="12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334155"/>
                </a:solidFill>
                <a:latin typeface="DejaVu Sans"/>
                <a:cs typeface="DejaVu Sans"/>
              </a:rPr>
              <a:t>operasional</a:t>
            </a:r>
            <a:r>
              <a:rPr dirty="0" sz="1200">
                <a:solidFill>
                  <a:srgbClr val="334155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334155"/>
                </a:solidFill>
                <a:latin typeface="DejaVu Sans"/>
                <a:cs typeface="DejaVu Sans"/>
              </a:rPr>
              <a:t>spesiﬁk.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894730" y="8441114"/>
            <a:ext cx="8592935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"Pemilihan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solusi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bergantung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pada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prioritas: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ﬁtur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 spc="-10">
                <a:solidFill>
                  <a:srgbClr val="475569"/>
                </a:solidFill>
                <a:latin typeface="DejaVu Sans"/>
                <a:cs typeface="DejaVu Sans"/>
              </a:rPr>
              <a:t>komprehensif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atau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eﬁsiensi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operasional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475569"/>
                </a:solidFill>
                <a:latin typeface="DejaVu Sans"/>
                <a:cs typeface="DejaVu Sans"/>
              </a:rPr>
              <a:t>khusus."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10304398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43694" y="346716"/>
            <a:ext cx="10856806" cy="485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1" b="1">
                <a:solidFill>
                  <a:srgbClr val="2c5f7f"/>
                </a:solidFill>
                <a:latin typeface="DejaVu Sans"/>
                <a:cs typeface="DejaVu Sans"/>
              </a:rPr>
              <a:t>Allied</a:t>
            </a:r>
            <a:r>
              <a:rPr dirty="0" sz="3000" spc="12" b="1">
                <a:solidFill>
                  <a:srgbClr val="2c5f7f"/>
                </a:solidFill>
                <a:latin typeface="DejaVu Sans"/>
                <a:cs typeface="DejaVu Sans"/>
              </a:rPr>
              <a:t> </a:t>
            </a:r>
            <a:r>
              <a:rPr dirty="0" sz="3000" spc="-46" b="1">
                <a:solidFill>
                  <a:srgbClr val="2c5f7f"/>
                </a:solidFill>
                <a:latin typeface="DejaVu Sans"/>
                <a:cs typeface="DejaVu Sans"/>
              </a:rPr>
              <a:t>Telesis</a:t>
            </a:r>
            <a:r>
              <a:rPr dirty="0" sz="3000" spc="68" b="1">
                <a:solidFill>
                  <a:srgbClr val="2c5f7f"/>
                </a:solidFill>
                <a:latin typeface="DejaVu Sans"/>
                <a:cs typeface="DejaVu Sans"/>
              </a:rPr>
              <a:t> </a:t>
            </a:r>
            <a:r>
              <a:rPr dirty="0" sz="3000" b="1">
                <a:solidFill>
                  <a:srgbClr val="2c5f7f"/>
                </a:solidFill>
                <a:latin typeface="DejaVu Sans"/>
                <a:cs typeface="DejaVu Sans"/>
              </a:rPr>
              <a:t>Vista</a:t>
            </a:r>
            <a:r>
              <a:rPr dirty="0" sz="3000" spc="23" b="1">
                <a:solidFill>
                  <a:srgbClr val="2c5f7f"/>
                </a:solidFill>
                <a:latin typeface="DejaVu Sans"/>
                <a:cs typeface="DejaVu Sans"/>
              </a:rPr>
              <a:t> </a:t>
            </a:r>
            <a:r>
              <a:rPr dirty="0" sz="3000" spc="17" b="1">
                <a:solidFill>
                  <a:srgbClr val="2c5f7f"/>
                </a:solidFill>
                <a:latin typeface="DejaVu Sans"/>
                <a:cs typeface="DejaVu Sans"/>
              </a:rPr>
              <a:t>Manager:</a:t>
            </a:r>
            <a:r>
              <a:rPr dirty="0" sz="3000" b="1">
                <a:solidFill>
                  <a:srgbClr val="2c5f7f"/>
                </a:solidFill>
                <a:latin typeface="DejaVu Sans"/>
                <a:cs typeface="DejaVu Sans"/>
              </a:rPr>
              <a:t> </a:t>
            </a:r>
            <a:r>
              <a:rPr dirty="0" sz="3000" spc="12" b="1">
                <a:solidFill>
                  <a:srgbClr val="343a40"/>
                </a:solidFill>
                <a:latin typeface="DejaVu Sans"/>
                <a:cs typeface="DejaVu Sans"/>
              </a:rPr>
              <a:t>Fitur</a:t>
            </a:r>
            <a:r>
              <a:rPr dirty="0" sz="30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3000" spc="15" b="1">
                <a:solidFill>
                  <a:srgbClr val="343a40"/>
                </a:solidFill>
                <a:latin typeface="DejaVu Sans"/>
                <a:cs typeface="DejaVu Sans"/>
              </a:rPr>
              <a:t>dan</a:t>
            </a:r>
            <a:r>
              <a:rPr dirty="0" sz="30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3000" spc="17" b="1">
                <a:solidFill>
                  <a:srgbClr val="343a40"/>
                </a:solidFill>
                <a:latin typeface="DejaVu Sans"/>
                <a:cs typeface="DejaVu Sans"/>
              </a:rPr>
              <a:t>Gambaran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03204" y="775341"/>
            <a:ext cx="1538010" cy="485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20" b="1">
                <a:solidFill>
                  <a:srgbClr val="343a40"/>
                </a:solidFill>
                <a:latin typeface="DejaVu Sans"/>
                <a:cs typeface="DejaVu Sans"/>
              </a:rPr>
              <a:t>Umum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89656" y="2001332"/>
            <a:ext cx="2657723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Discovery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dan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spc="-18" b="1">
                <a:solidFill>
                  <a:srgbClr val="343a40"/>
                </a:solidFill>
                <a:latin typeface="DejaVu Sans"/>
                <a:cs typeface="DejaVu Sans"/>
              </a:rPr>
              <a:t>Topologi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Jaringan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Otomatis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484935" y="2001332"/>
            <a:ext cx="2792358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Inventori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Perangkat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dan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Manajemen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Firmware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380213" y="2001332"/>
            <a:ext cx="3156444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Backup/Restore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Konﬁgurasi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 spc="-10" b="1">
                <a:solidFill>
                  <a:srgbClr val="343a40"/>
                </a:solidFill>
                <a:latin typeface="DejaVu Sans"/>
                <a:cs typeface="DejaVu Sans"/>
              </a:rPr>
              <a:t>Terintegrasi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89656" y="2621967"/>
            <a:ext cx="3254049" cy="640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adb5bd"/>
                </a:solidFill>
                <a:latin typeface="DejaVu Sans"/>
                <a:cs typeface="DejaVu Sans"/>
              </a:rPr>
              <a:t>Mendapatkan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adb5bd"/>
                </a:solidFill>
                <a:latin typeface="DejaVu Sans"/>
                <a:cs typeface="DejaVu Sans"/>
              </a:rPr>
              <a:t>visibilitas</a:t>
            </a:r>
            <a:r>
              <a:rPr dirty="0" sz="1200" spc="-1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adb5bd"/>
                </a:solidFill>
                <a:latin typeface="DejaVu Sans"/>
                <a:cs typeface="DejaVu Sans"/>
              </a:rPr>
              <a:t>penuh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56">
                <a:solidFill>
                  <a:srgbClr val="adb5bd"/>
                </a:solidFill>
                <a:latin typeface="DejaVu Sans"/>
                <a:cs typeface="DejaVu Sans"/>
              </a:rPr>
              <a:t>ke</a:t>
            </a:r>
            <a:r>
              <a:rPr dirty="0" sz="1200" spc="33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adb5bd"/>
                </a:solidFill>
                <a:latin typeface="DejaVu Sans"/>
                <a:cs typeface="DejaVu Sans"/>
              </a:rPr>
              <a:t>seluruh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2">
                <a:solidFill>
                  <a:srgbClr val="adb5bd"/>
                </a:solidFill>
                <a:latin typeface="DejaVu Sans"/>
                <a:cs typeface="DejaVu Sans"/>
              </a:rPr>
              <a:t>jaringan.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adb5bd"/>
                </a:solidFill>
                <a:latin typeface="DejaVu Sans"/>
                <a:cs typeface="DejaVu Sans"/>
              </a:rPr>
              <a:t>Deteksi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adb5bd"/>
                </a:solidFill>
                <a:latin typeface="DejaVu Sans"/>
                <a:cs typeface="DejaVu Sans"/>
              </a:rPr>
              <a:t>perangkat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adb5bd"/>
                </a:solidFill>
                <a:latin typeface="DejaVu Sans"/>
                <a:cs typeface="DejaVu Sans"/>
              </a:rPr>
              <a:t>baru</a:t>
            </a:r>
            <a:r>
              <a:rPr dirty="0" sz="1200" spc="-1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adb5bd"/>
                </a:solidFill>
                <a:latin typeface="DejaVu Sans"/>
                <a:cs typeface="DejaVu Sans"/>
              </a:rPr>
              <a:t>secara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4">
                <a:solidFill>
                  <a:srgbClr val="adb5bd"/>
                </a:solidFill>
                <a:latin typeface="DejaVu Sans"/>
                <a:cs typeface="DejaVu Sans"/>
              </a:rPr>
              <a:t>otomatis.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484935" y="2621967"/>
            <a:ext cx="3332182" cy="640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adb5bd"/>
                </a:solidFill>
                <a:latin typeface="DejaVu Sans"/>
                <a:cs typeface="DejaVu Sans"/>
              </a:rPr>
              <a:t>Manajemen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adb5bd"/>
                </a:solidFill>
                <a:latin typeface="DejaVu Sans"/>
                <a:cs typeface="DejaVu Sans"/>
              </a:rPr>
              <a:t>inventaris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adb5bd"/>
                </a:solidFill>
                <a:latin typeface="DejaVu Sans"/>
                <a:cs typeface="DejaVu Sans"/>
              </a:rPr>
              <a:t>perangkat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adb5bd"/>
                </a:solidFill>
                <a:latin typeface="DejaVu Sans"/>
                <a:cs typeface="DejaVu Sans"/>
              </a:rPr>
              <a:t>yang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2">
                <a:solidFill>
                  <a:srgbClr val="adb5bd"/>
                </a:solidFill>
                <a:latin typeface="DejaVu Sans"/>
                <a:cs typeface="DejaVu Sans"/>
              </a:rPr>
              <a:t>terpusat.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adb5bd"/>
                </a:solidFill>
                <a:latin typeface="DejaVu Sans"/>
                <a:cs typeface="DejaVu Sans"/>
              </a:rPr>
              <a:t>Pembaruan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23">
                <a:solidFill>
                  <a:srgbClr val="adb5bd"/>
                </a:solidFill>
                <a:latin typeface="DejaVu Sans"/>
                <a:cs typeface="DejaVu Sans"/>
              </a:rPr>
              <a:t>ﬁrmware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adb5bd"/>
                </a:solidFill>
                <a:latin typeface="DejaVu Sans"/>
                <a:cs typeface="DejaVu Sans"/>
              </a:rPr>
              <a:t>mudah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adb5bd"/>
                </a:solidFill>
                <a:latin typeface="DejaVu Sans"/>
                <a:cs typeface="DejaVu Sans"/>
              </a:rPr>
              <a:t>dan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5">
                <a:solidFill>
                  <a:srgbClr val="adb5bd"/>
                </a:solidFill>
                <a:latin typeface="DejaVu Sans"/>
                <a:cs typeface="DejaVu Sans"/>
              </a:rPr>
              <a:t>terotomatisasi.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380213" y="2621967"/>
            <a:ext cx="2990779" cy="640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adb5bd"/>
                </a:solidFill>
                <a:latin typeface="DejaVu Sans"/>
                <a:cs typeface="DejaVu Sans"/>
              </a:rPr>
              <a:t>Cadangkan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adb5bd"/>
                </a:solidFill>
                <a:latin typeface="DejaVu Sans"/>
                <a:cs typeface="DejaVu Sans"/>
              </a:rPr>
              <a:t>dan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adb5bd"/>
                </a:solidFill>
                <a:latin typeface="DejaVu Sans"/>
                <a:cs typeface="DejaVu Sans"/>
              </a:rPr>
              <a:t>pulihkan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adb5bd"/>
                </a:solidFill>
                <a:latin typeface="DejaVu Sans"/>
                <a:cs typeface="DejaVu Sans"/>
              </a:rPr>
              <a:t>konﬁgurasi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7">
                <a:solidFill>
                  <a:srgbClr val="adb5bd"/>
                </a:solidFill>
                <a:latin typeface="DejaVu Sans"/>
                <a:cs typeface="DejaVu Sans"/>
              </a:rPr>
              <a:t>perangkat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adb5bd"/>
                </a:solidFill>
                <a:latin typeface="DejaVu Sans"/>
                <a:cs typeface="DejaVu Sans"/>
              </a:rPr>
              <a:t>dengan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adb5bd"/>
                </a:solidFill>
                <a:latin typeface="DejaVu Sans"/>
                <a:cs typeface="DejaVu Sans"/>
              </a:rPr>
              <a:t>cepat.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adb5bd"/>
                </a:solidFill>
                <a:latin typeface="DejaVu Sans"/>
                <a:cs typeface="DejaVu Sans"/>
              </a:rPr>
              <a:t>Memastikan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4">
                <a:solidFill>
                  <a:srgbClr val="adb5bd"/>
                </a:solidFill>
                <a:latin typeface="DejaVu Sans"/>
                <a:cs typeface="DejaVu Sans"/>
              </a:rPr>
              <a:t>pemulihan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adb5bd"/>
                </a:solidFill>
                <a:latin typeface="DejaVu Sans"/>
                <a:cs typeface="DejaVu Sans"/>
              </a:rPr>
              <a:t>bencana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adb5bd"/>
                </a:solidFill>
                <a:latin typeface="DejaVu Sans"/>
                <a:cs typeface="DejaVu Sans"/>
              </a:rPr>
              <a:t>yang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adb5bd"/>
                </a:solidFill>
                <a:latin typeface="DejaVu Sans"/>
                <a:cs typeface="DejaVu Sans"/>
              </a:rPr>
              <a:t>eﬁsien.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366664" y="6287582"/>
            <a:ext cx="3425214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Dashboard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Monitoring,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Alarm,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432648" y="6287582"/>
            <a:ext cx="3448465" cy="556903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Otentikasi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spc="-18" b="1">
                <a:solidFill>
                  <a:srgbClr val="343a40"/>
                </a:solidFill>
                <a:latin typeface="DejaVu Sans"/>
                <a:cs typeface="DejaVu Sans"/>
              </a:rPr>
              <a:t>Terpusat</a:t>
            </a:r>
            <a:r>
              <a:rPr dirty="0" sz="1500" spc="28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dan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Akses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Berbasis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Peran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366664" y="6582857"/>
            <a:ext cx="1652695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dan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Notiﬁkasi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366664" y="6908217"/>
            <a:ext cx="3455196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adb5bd"/>
                </a:solidFill>
                <a:latin typeface="DejaVu Sans"/>
                <a:cs typeface="DejaVu Sans"/>
              </a:rPr>
              <a:t>Visualisasi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adb5bd"/>
                </a:solidFill>
                <a:latin typeface="DejaVu Sans"/>
                <a:cs typeface="DejaVu Sans"/>
              </a:rPr>
              <a:t>kinerja</a:t>
            </a:r>
            <a:r>
              <a:rPr dirty="0" sz="1200" spc="-1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adb5bd"/>
                </a:solidFill>
                <a:latin typeface="DejaVu Sans"/>
                <a:cs typeface="DejaVu Sans"/>
              </a:rPr>
              <a:t>jaringan</a:t>
            </a:r>
            <a:r>
              <a:rPr dirty="0" sz="1200" spc="-1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adb5bd"/>
                </a:solidFill>
                <a:latin typeface="DejaVu Sans"/>
                <a:cs typeface="DejaVu Sans"/>
              </a:rPr>
              <a:t>secara</a:t>
            </a:r>
            <a:r>
              <a:rPr dirty="0" sz="1200" spc="-1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adb5bd"/>
                </a:solidFill>
                <a:latin typeface="DejaVu Sans"/>
                <a:cs typeface="DejaVu Sans"/>
              </a:rPr>
              <a:t>real-time.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8">
                <a:solidFill>
                  <a:srgbClr val="adb5bd"/>
                </a:solidFill>
                <a:latin typeface="DejaVu Sans"/>
                <a:cs typeface="DejaVu Sans"/>
              </a:rPr>
              <a:t>Peringatan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adb5bd"/>
                </a:solidFill>
                <a:latin typeface="DejaVu Sans"/>
                <a:cs typeface="DejaVu Sans"/>
              </a:rPr>
              <a:t>dini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adb5bd"/>
                </a:solidFill>
                <a:latin typeface="DejaVu Sans"/>
                <a:cs typeface="DejaVu Sans"/>
              </a:rPr>
              <a:t>untuk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adb5bd"/>
                </a:solidFill>
                <a:latin typeface="DejaVu Sans"/>
                <a:cs typeface="DejaVu Sans"/>
              </a:rPr>
              <a:t>masalah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adb5bd"/>
                </a:solidFill>
                <a:latin typeface="DejaVu Sans"/>
                <a:cs typeface="DejaVu Sans"/>
              </a:rPr>
              <a:t>operasional.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432648" y="6908217"/>
            <a:ext cx="3469874" cy="640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8">
                <a:solidFill>
                  <a:srgbClr val="adb5bd"/>
                </a:solidFill>
                <a:latin typeface="DejaVu Sans"/>
                <a:cs typeface="DejaVu Sans"/>
              </a:rPr>
              <a:t>Kontrol</a:t>
            </a:r>
            <a:r>
              <a:rPr dirty="0" sz="1200" spc="12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adb5bd"/>
                </a:solidFill>
                <a:latin typeface="DejaVu Sans"/>
                <a:cs typeface="DejaVu Sans"/>
              </a:rPr>
              <a:t>akses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adb5bd"/>
                </a:solidFill>
                <a:latin typeface="DejaVu Sans"/>
                <a:cs typeface="DejaVu Sans"/>
              </a:rPr>
              <a:t>pengguna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adb5bd"/>
                </a:solidFill>
                <a:latin typeface="DejaVu Sans"/>
                <a:cs typeface="DejaVu Sans"/>
              </a:rPr>
              <a:t>yang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adb5bd"/>
                </a:solidFill>
                <a:latin typeface="DejaVu Sans"/>
                <a:cs typeface="DejaVu Sans"/>
              </a:rPr>
              <a:t>ketat.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5">
                <a:solidFill>
                  <a:srgbClr val="adb5bd"/>
                </a:solidFill>
                <a:latin typeface="DejaVu Sans"/>
                <a:cs typeface="DejaVu Sans"/>
              </a:rPr>
              <a:t>Manajemen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adb5bd"/>
                </a:solidFill>
                <a:latin typeface="DejaVu Sans"/>
                <a:cs typeface="DejaVu Sans"/>
              </a:rPr>
              <a:t>peran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adb5bd"/>
                </a:solidFill>
                <a:latin typeface="DejaVu Sans"/>
                <a:cs typeface="DejaVu Sans"/>
              </a:rPr>
              <a:t>untuk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21">
                <a:solidFill>
                  <a:srgbClr val="adb5bd"/>
                </a:solidFill>
                <a:latin typeface="DejaVu Sans"/>
                <a:cs typeface="DejaVu Sans"/>
              </a:rPr>
              <a:t>keamanan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adb5bd"/>
                </a:solidFill>
                <a:latin typeface="DejaVu Sans"/>
                <a:cs typeface="DejaVu Sans"/>
              </a:rPr>
              <a:t>jaringan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5">
                <a:solidFill>
                  <a:srgbClr val="adb5bd"/>
                </a:solidFill>
                <a:latin typeface="DejaVu Sans"/>
                <a:cs typeface="DejaVu Sans"/>
              </a:rPr>
              <a:t>yang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adb5bd"/>
                </a:solidFill>
                <a:latin typeface="DejaVu Sans"/>
                <a:cs typeface="DejaVu Sans"/>
              </a:rPr>
              <a:t>ditingkatkan.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191220" y="9517312"/>
            <a:ext cx="343591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343a40"/>
                </a:solidFill>
                <a:latin typeface="DejaVu Sans"/>
                <a:cs typeface="DejaVu Sans"/>
              </a:rPr>
              <a:t>Peningkatan</a:t>
            </a:r>
            <a:r>
              <a:rPr dirty="0" sz="135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343a40"/>
                </a:solidFill>
                <a:latin typeface="DejaVu Sans"/>
                <a:cs typeface="DejaVu Sans"/>
              </a:rPr>
              <a:t>Eﬁsiensi</a:t>
            </a:r>
            <a:r>
              <a:rPr dirty="0" sz="135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343a40"/>
                </a:solidFill>
                <a:latin typeface="DejaVu Sans"/>
                <a:cs typeface="DejaVu Sans"/>
              </a:rPr>
              <a:t>Operasional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5141713" y="9517312"/>
            <a:ext cx="3090519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343a40"/>
                </a:solidFill>
                <a:latin typeface="DejaVu Sans"/>
                <a:cs typeface="DejaVu Sans"/>
              </a:rPr>
              <a:t>Penurunan</a:t>
            </a:r>
            <a:r>
              <a:rPr dirty="0" sz="135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343a40"/>
                </a:solidFill>
                <a:latin typeface="DejaVu Sans"/>
                <a:cs typeface="DejaVu Sans"/>
              </a:rPr>
              <a:t>Downtime</a:t>
            </a:r>
            <a:r>
              <a:rPr dirty="0" sz="135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343a40"/>
                </a:solidFill>
                <a:latin typeface="DejaVu Sans"/>
                <a:cs typeface="DejaVu Sans"/>
              </a:rPr>
              <a:t>Jaringan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746776" y="9517312"/>
            <a:ext cx="301844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spc="-17" b="1">
                <a:solidFill>
                  <a:srgbClr val="343a40"/>
                </a:solidFill>
                <a:latin typeface="DejaVu Sans"/>
                <a:cs typeface="DejaVu Sans"/>
              </a:rPr>
              <a:t>Waktu</a:t>
            </a:r>
            <a:r>
              <a:rPr dirty="0" sz="1350" spc="1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343a40"/>
                </a:solidFill>
                <a:latin typeface="DejaVu Sans"/>
                <a:cs typeface="DejaVu Sans"/>
              </a:rPr>
              <a:t>Respons</a:t>
            </a:r>
            <a:r>
              <a:rPr dirty="0" sz="135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343a40"/>
                </a:solidFill>
                <a:latin typeface="DejaVu Sans"/>
                <a:cs typeface="DejaVu Sans"/>
              </a:rPr>
              <a:t>Insiden</a:t>
            </a:r>
            <a:r>
              <a:rPr dirty="0" sz="135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343a40"/>
                </a:solidFill>
                <a:latin typeface="DejaVu Sans"/>
                <a:cs typeface="DejaVu Sans"/>
              </a:rPr>
              <a:t>Cepat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10456798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55439" y="346716"/>
            <a:ext cx="11033406" cy="485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5" b="1">
                <a:solidFill>
                  <a:srgbClr val="343a40"/>
                </a:solidFill>
                <a:latin typeface="DejaVu Sans"/>
                <a:cs typeface="DejaVu Sans"/>
              </a:rPr>
              <a:t>Perbandingan</a:t>
            </a:r>
            <a:r>
              <a:rPr dirty="0" sz="3000" spc="1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3000" spc="14" b="1">
                <a:solidFill>
                  <a:srgbClr val="343a40"/>
                </a:solidFill>
                <a:latin typeface="DejaVu Sans"/>
                <a:cs typeface="DejaVu Sans"/>
              </a:rPr>
              <a:t>Singkat:</a:t>
            </a:r>
            <a:r>
              <a:rPr dirty="0" sz="30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3000" b="1">
                <a:solidFill>
                  <a:srgbClr val="2c5f7f"/>
                </a:solidFill>
                <a:latin typeface="DejaVu Sans"/>
                <a:cs typeface="DejaVu Sans"/>
              </a:rPr>
              <a:t>Vista</a:t>
            </a:r>
            <a:r>
              <a:rPr dirty="0" sz="3000" spc="23" b="1">
                <a:solidFill>
                  <a:srgbClr val="2c5f7f"/>
                </a:solidFill>
                <a:latin typeface="DejaVu Sans"/>
                <a:cs typeface="DejaVu Sans"/>
              </a:rPr>
              <a:t> </a:t>
            </a:r>
            <a:r>
              <a:rPr dirty="0" sz="3000" spc="17" b="1">
                <a:solidFill>
                  <a:srgbClr val="2c5f7f"/>
                </a:solidFill>
                <a:latin typeface="DejaVu Sans"/>
                <a:cs typeface="DejaVu Sans"/>
              </a:rPr>
              <a:t>Manager</a:t>
            </a:r>
            <a:r>
              <a:rPr dirty="0" sz="3000" b="1">
                <a:solidFill>
                  <a:srgbClr val="2c5f7f"/>
                </a:solidFill>
                <a:latin typeface="DejaVu Sans"/>
                <a:cs typeface="DejaVu Sans"/>
              </a:rPr>
              <a:t> </a:t>
            </a:r>
            <a:r>
              <a:rPr dirty="0" sz="3000" spc="15" b="1">
                <a:solidFill>
                  <a:srgbClr val="343a40"/>
                </a:solidFill>
                <a:latin typeface="DejaVu Sans"/>
                <a:cs typeface="DejaVu Sans"/>
              </a:rPr>
              <a:t>vs.</a:t>
            </a:r>
            <a:r>
              <a:rPr dirty="0" sz="30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3000" spc="-67" b="1">
                <a:solidFill>
                  <a:srgbClr val="5cb85c"/>
                </a:solidFill>
                <a:latin typeface="DejaVu Sans"/>
                <a:cs typeface="DejaVu Sans"/>
              </a:rPr>
              <a:t>ATI</a:t>
            </a:r>
            <a:r>
              <a:rPr dirty="0" sz="3000" spc="83" b="1">
                <a:solidFill>
                  <a:srgbClr val="5cb85c"/>
                </a:solidFill>
                <a:latin typeface="DejaVu Sans"/>
                <a:cs typeface="DejaVu Sans"/>
              </a:rPr>
              <a:t> </a:t>
            </a:r>
            <a:r>
              <a:rPr dirty="0" sz="3000" spc="18" b="1">
                <a:solidFill>
                  <a:srgbClr val="5cb85c"/>
                </a:solidFill>
                <a:latin typeface="DejaVu Sans"/>
                <a:cs typeface="DejaVu Sans"/>
              </a:rPr>
              <a:t>BCM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048696" y="905203"/>
            <a:ext cx="2247069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>
                <a:solidFill>
                  <a:srgbClr val="343a40"/>
                </a:solidFill>
                <a:latin typeface="DejaVu Sans"/>
                <a:cs typeface="DejaVu Sans"/>
              </a:rPr>
              <a:t>Memilih</a:t>
            </a:r>
            <a:r>
              <a:rPr dirty="0" sz="170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343a40"/>
                </a:solidFill>
                <a:latin typeface="DejaVu Sans"/>
                <a:cs typeface="DejaVu Sans"/>
              </a:rPr>
              <a:t>Solusi</a:t>
            </a:r>
            <a:r>
              <a:rPr dirty="0" sz="170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700" spc="-15">
                <a:solidFill>
                  <a:srgbClr val="343a40"/>
                </a:solidFill>
                <a:latin typeface="DejaVu Sans"/>
                <a:cs typeface="DejaVu Sans"/>
              </a:rPr>
              <a:t>NCM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0999" y="1456144"/>
            <a:ext cx="2235920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2c5f7f"/>
                </a:solidFill>
                <a:latin typeface="DejaVu Sans"/>
                <a:cs typeface="DejaVu Sans"/>
              </a:rPr>
              <a:t>Vista</a:t>
            </a:r>
            <a:r>
              <a:rPr dirty="0" sz="2000" spc="15" b="1">
                <a:solidFill>
                  <a:srgbClr val="2c5f7f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2c5f7f"/>
                </a:solidFill>
                <a:latin typeface="DejaVu Sans"/>
                <a:cs typeface="DejaVu Sans"/>
              </a:rPr>
              <a:t>Manager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607967" y="1456144"/>
            <a:ext cx="1327372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-44" b="1">
                <a:solidFill>
                  <a:srgbClr val="5cb85c"/>
                </a:solidFill>
                <a:latin typeface="DejaVu Sans"/>
                <a:cs typeface="DejaVu Sans"/>
              </a:rPr>
              <a:t>ATI</a:t>
            </a:r>
            <a:r>
              <a:rPr dirty="0" sz="2000" spc="56" b="1">
                <a:solidFill>
                  <a:srgbClr val="5cb85c"/>
                </a:solidFill>
                <a:latin typeface="DejaVu Sans"/>
                <a:cs typeface="DejaVu Sans"/>
              </a:rPr>
              <a:t> </a:t>
            </a:r>
            <a:r>
              <a:rPr dirty="0" sz="2000" spc="11" b="1">
                <a:solidFill>
                  <a:srgbClr val="5cb85c"/>
                </a:solidFill>
                <a:latin typeface="DejaVu Sans"/>
                <a:cs typeface="DejaVu Sans"/>
              </a:rPr>
              <a:t>BCM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059363" y="4677857"/>
            <a:ext cx="2784626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Fitur: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Fokus</a:t>
            </a:r>
            <a:r>
              <a:rPr dirty="0" sz="1500" spc="18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Operasi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Inti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32395" y="4725482"/>
            <a:ext cx="3516773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Fitur: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Enterprise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Komprehensif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067995" y="5002462"/>
            <a:ext cx="3462386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Spesialisasi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dalam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 spc="-12">
                <a:solidFill>
                  <a:srgbClr val="374151"/>
                </a:solidFill>
                <a:latin typeface="DejaVu Sans"/>
                <a:cs typeface="DejaVu Sans"/>
              </a:rPr>
              <a:t>Backup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 spc="-10">
                <a:solidFill>
                  <a:srgbClr val="374151"/>
                </a:solidFill>
                <a:latin typeface="DejaVu Sans"/>
                <a:cs typeface="DejaVu Sans"/>
              </a:rPr>
              <a:t>Konﬁgurasi.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03795" y="5059612"/>
            <a:ext cx="4462895" cy="74161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37231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Manajemen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terpadu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LAN,</a:t>
            </a:r>
            <a:r>
              <a:rPr dirty="0" sz="1350" spc="-1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 spc="-25">
                <a:solidFill>
                  <a:srgbClr val="374151"/>
                </a:solidFill>
                <a:latin typeface="DejaVu Sans"/>
                <a:cs typeface="DejaVu Sans"/>
              </a:rPr>
              <a:t>SD-WAN,</a:t>
            </a:r>
            <a:r>
              <a:rPr dirty="0" sz="1350" spc="21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Nirkabel.</a:t>
            </a:r>
          </a:p>
          <a:p>
            <a:pPr marL="237231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Otomatisasi,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penemuan,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&amp;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pemantauan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tingkat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lanjut.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067995" y="5259637"/>
            <a:ext cx="3864471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Dioptimalkan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untuk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eﬁsiensi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tugas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spesiﬁk.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059363" y="6030407"/>
            <a:ext cx="3590033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Persyaratan: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Ringan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&amp;</a:t>
            </a:r>
            <a:r>
              <a:rPr dirty="0" sz="1500" spc="14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Portable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32395" y="6230432"/>
            <a:ext cx="3376572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Persyaratan: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Lisensi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&amp;</a:t>
            </a:r>
            <a:r>
              <a:rPr dirty="0" sz="1500" spc="14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Server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067995" y="6364537"/>
            <a:ext cx="1489625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Instalasi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Mudah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41027" y="6564562"/>
            <a:ext cx="3686334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Membutuhkan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instalasi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server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dedicated.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Perizinan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perangkat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lunak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untuk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 spc="-28">
                <a:solidFill>
                  <a:srgbClr val="374151"/>
                </a:solidFill>
                <a:latin typeface="DejaVu Sans"/>
                <a:cs typeface="DejaVu Sans"/>
              </a:rPr>
              <a:t>ﬁtur.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067995" y="6621712"/>
            <a:ext cx="3420177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Opsi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penyebaran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yang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ﬂeksibel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(EXE).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059363" y="7392482"/>
            <a:ext cx="4134393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Kontrol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Data: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Lokal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&amp;</a:t>
            </a:r>
            <a:r>
              <a:rPr dirty="0" sz="1500" spc="14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Mudah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Diaudit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32395" y="7497257"/>
            <a:ext cx="2174205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Kontrol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Data: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Luas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067995" y="7726612"/>
            <a:ext cx="3539087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Data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disimpan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di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lingkungan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 spc="-10">
                <a:solidFill>
                  <a:srgbClr val="374151"/>
                </a:solidFill>
                <a:latin typeface="DejaVu Sans"/>
                <a:cs typeface="DejaVu Sans"/>
              </a:rPr>
              <a:t>terkontrol.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Audit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 spc="-41">
                <a:solidFill>
                  <a:srgbClr val="374151"/>
                </a:solidFill>
                <a:latin typeface="DejaVu Sans"/>
                <a:cs typeface="DejaVu Sans"/>
              </a:rPr>
              <a:t>Trail</a:t>
            </a:r>
            <a:r>
              <a:rPr dirty="0" sz="1350" spc="37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yang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lebih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sederhana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41027" y="7821862"/>
            <a:ext cx="4225561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Manajemen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data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terpusat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untuk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jaringan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 spc="-28">
                <a:solidFill>
                  <a:srgbClr val="374151"/>
                </a:solidFill>
                <a:latin typeface="DejaVu Sans"/>
                <a:cs typeface="DejaVu Sans"/>
              </a:rPr>
              <a:t>besar.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Pencatatan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lebih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untuk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analisa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89656" y="8830757"/>
            <a:ext cx="3975403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33" b="1">
                <a:solidFill>
                  <a:srgbClr val="343a40"/>
                </a:solidFill>
                <a:latin typeface="DejaVu Sans"/>
                <a:cs typeface="DejaVu Sans"/>
              </a:rPr>
              <a:t>ATI</a:t>
            </a:r>
            <a:r>
              <a:rPr dirty="0" sz="1500" spc="41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spc="10" b="1">
                <a:solidFill>
                  <a:srgbClr val="343a40"/>
                </a:solidFill>
                <a:latin typeface="DejaVu Sans"/>
                <a:cs typeface="DejaVu Sans"/>
              </a:rPr>
              <a:t>BCM: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Solusi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Eﬁsien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dan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spc="-21" b="1">
                <a:solidFill>
                  <a:srgbClr val="343a40"/>
                </a:solidFill>
                <a:latin typeface="DejaVu Sans"/>
                <a:cs typeface="DejaVu Sans"/>
              </a:rPr>
              <a:t>Terarah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26888" y="9155362"/>
            <a:ext cx="5620074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spc="-11">
                <a:solidFill>
                  <a:srgbClr val="374151"/>
                </a:solidFill>
                <a:latin typeface="DejaVu Sans"/>
                <a:cs typeface="DejaVu Sans"/>
              </a:rPr>
              <a:t>Pendekatan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ringkas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dan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 spc="-18">
                <a:solidFill>
                  <a:srgbClr val="374151"/>
                </a:solidFill>
                <a:latin typeface="DejaVu Sans"/>
                <a:cs typeface="DejaVu Sans"/>
              </a:rPr>
              <a:t>kuat</a:t>
            </a:r>
            <a:r>
              <a:rPr dirty="0" sz="1350" spc="12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untuk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manajemen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konﬁgurasi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inti.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26888" y="9412537"/>
            <a:ext cx="6728957" cy="493966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Menyeimbangkan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ﬁtur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penting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dengan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eﬁsiensi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biaya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dan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 spc="-10">
                <a:solidFill>
                  <a:srgbClr val="374151"/>
                </a:solidFill>
                <a:latin typeface="DejaVu Sans"/>
                <a:cs typeface="DejaVu Sans"/>
              </a:rPr>
              <a:t>kemudahan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audit.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Pilihan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ideal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untuk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 spc="-10">
                <a:solidFill>
                  <a:srgbClr val="374151"/>
                </a:solidFill>
                <a:latin typeface="DejaVu Sans"/>
                <a:cs typeface="DejaVu Sans"/>
              </a:rPr>
              <a:t>kebutuhan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operasional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yang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74151"/>
                </a:solidFill>
                <a:latin typeface="DejaVu Sans"/>
                <a:cs typeface="DejaVu Sans"/>
              </a:rPr>
              <a:t>terfokus.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9323451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80999" y="356369"/>
            <a:ext cx="11153495" cy="9137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0" b="1">
                <a:solidFill>
                  <a:srgbClr val="2c5f7f"/>
                </a:solidFill>
                <a:latin typeface="DejaVu Sans"/>
                <a:cs typeface="DejaVu Sans"/>
              </a:rPr>
              <a:t>Keunggulan</a:t>
            </a:r>
            <a:r>
              <a:rPr dirty="0" sz="3000" spc="15" b="1">
                <a:solidFill>
                  <a:srgbClr val="2c5f7f"/>
                </a:solidFill>
                <a:latin typeface="DejaVu Sans"/>
                <a:cs typeface="DejaVu Sans"/>
              </a:rPr>
              <a:t> </a:t>
            </a:r>
            <a:r>
              <a:rPr dirty="0" sz="3000" spc="-67" b="1">
                <a:solidFill>
                  <a:srgbClr val="2c5f7f"/>
                </a:solidFill>
                <a:latin typeface="DejaVu Sans"/>
                <a:cs typeface="DejaVu Sans"/>
              </a:rPr>
              <a:t>ATI</a:t>
            </a:r>
            <a:r>
              <a:rPr dirty="0" sz="3000" spc="83" b="1">
                <a:solidFill>
                  <a:srgbClr val="2c5f7f"/>
                </a:solidFill>
                <a:latin typeface="DejaVu Sans"/>
                <a:cs typeface="DejaVu Sans"/>
              </a:rPr>
              <a:t> </a:t>
            </a:r>
            <a:r>
              <a:rPr dirty="0" sz="3000" spc="18" b="1">
                <a:solidFill>
                  <a:srgbClr val="2c5f7f"/>
                </a:solidFill>
                <a:latin typeface="DejaVu Sans"/>
                <a:cs typeface="DejaVu Sans"/>
              </a:rPr>
              <a:t>BCM</a:t>
            </a:r>
            <a:r>
              <a:rPr dirty="0" sz="3000" spc="15" b="1">
                <a:solidFill>
                  <a:srgbClr val="2c5f7f"/>
                </a:solidFill>
                <a:latin typeface="DejaVu Sans"/>
                <a:cs typeface="DejaVu Sans"/>
              </a:rPr>
              <a:t> </a:t>
            </a:r>
            <a:r>
              <a:rPr dirty="0" sz="3000" spc="15" b="1">
                <a:solidFill>
                  <a:srgbClr val="343a40"/>
                </a:solidFill>
                <a:latin typeface="DejaVu Sans"/>
                <a:cs typeface="DejaVu Sans"/>
              </a:rPr>
              <a:t>Dibanding</a:t>
            </a:r>
            <a:r>
              <a:rPr dirty="0" sz="3000" spc="1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3000" spc="11" b="1">
                <a:solidFill>
                  <a:srgbClr val="343a40"/>
                </a:solidFill>
                <a:latin typeface="DejaVu Sans"/>
                <a:cs typeface="DejaVu Sans"/>
              </a:rPr>
              <a:t>Allied</a:t>
            </a:r>
            <a:r>
              <a:rPr dirty="0" sz="3000" spc="12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3000" spc="-46" b="1">
                <a:solidFill>
                  <a:srgbClr val="343a40"/>
                </a:solidFill>
                <a:latin typeface="DejaVu Sans"/>
                <a:cs typeface="DejaVu Sans"/>
              </a:rPr>
              <a:t>Telesis</a:t>
            </a:r>
            <a:r>
              <a:rPr dirty="0" sz="3000" spc="68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3000" b="1">
                <a:solidFill>
                  <a:srgbClr val="343a40"/>
                </a:solidFill>
                <a:latin typeface="DejaVu Sans"/>
                <a:cs typeface="DejaVu Sans"/>
              </a:rPr>
              <a:t>Vista</a:t>
            </a:r>
          </a:p>
          <a:p>
            <a:pPr marL="0" marR="0">
              <a:lnSpc>
                <a:spcPts val="3375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7" b="1">
                <a:solidFill>
                  <a:srgbClr val="343a40"/>
                </a:solidFill>
                <a:latin typeface="DejaVu Sans"/>
                <a:cs typeface="DejaVu Sans"/>
              </a:rPr>
              <a:t>Manager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8149" y="1725235"/>
            <a:ext cx="2598213" cy="5664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Lebih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Ringan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&amp;</a:t>
            </a:r>
            <a:r>
              <a:rPr dirty="0" sz="1500" spc="14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Mudah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di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Deploy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08426" y="1725235"/>
            <a:ext cx="1556762" cy="5664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Hemat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Biaya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Infrastruktur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6835" y="2393494"/>
            <a:ext cx="2885430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343a40"/>
                </a:solidFill>
                <a:latin typeface="DejaVu Sans"/>
                <a:cs typeface="DejaVu Sans"/>
              </a:rPr>
              <a:t>•</a:t>
            </a:r>
            <a:r>
              <a:rPr dirty="0" sz="1200" spc="-2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343a40"/>
                </a:solidFill>
                <a:latin typeface="DejaVu Sans"/>
                <a:cs typeface="DejaVu Sans"/>
              </a:rPr>
              <a:t>Dirancang</a:t>
            </a:r>
            <a:r>
              <a:rPr dirty="0" sz="1200" spc="-1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343a40"/>
                </a:solidFill>
                <a:latin typeface="DejaVu Sans"/>
                <a:cs typeface="DejaVu Sans"/>
              </a:rPr>
              <a:t>untuk</a:t>
            </a:r>
            <a:r>
              <a:rPr dirty="0" sz="120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343a40"/>
                </a:solidFill>
                <a:latin typeface="DejaVu Sans"/>
                <a:cs typeface="DejaVu Sans"/>
              </a:rPr>
              <a:t>eﬁsiensi,</a:t>
            </a:r>
            <a:r>
              <a:rPr dirty="0" sz="120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343a40"/>
                </a:solidFill>
                <a:latin typeface="DejaVu Sans"/>
                <a:cs typeface="DejaVu Sans"/>
              </a:rPr>
              <a:t>minimal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7">
                <a:solidFill>
                  <a:srgbClr val="343a40"/>
                </a:solidFill>
                <a:latin typeface="DejaVu Sans"/>
                <a:cs typeface="DejaVu Sans"/>
              </a:rPr>
              <a:t>sumber</a:t>
            </a:r>
            <a:r>
              <a:rPr dirty="0" sz="120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343a40"/>
                </a:solidFill>
                <a:latin typeface="DejaVu Sans"/>
                <a:cs typeface="DejaVu Sans"/>
              </a:rPr>
              <a:t>daya</a:t>
            </a:r>
            <a:r>
              <a:rPr dirty="0" sz="120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343a40"/>
                </a:solidFill>
                <a:latin typeface="DejaVu Sans"/>
                <a:cs typeface="DejaVu Sans"/>
              </a:rPr>
              <a:t>sistem.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37113" y="2393494"/>
            <a:ext cx="2683828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343a40"/>
                </a:solidFill>
                <a:latin typeface="DejaVu Sans"/>
                <a:cs typeface="DejaVu Sans"/>
              </a:rPr>
              <a:t>•</a:t>
            </a:r>
            <a:r>
              <a:rPr dirty="0" sz="1200" spc="-2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200" spc="-21">
                <a:solidFill>
                  <a:srgbClr val="343a40"/>
                </a:solidFill>
                <a:latin typeface="DejaVu Sans"/>
                <a:cs typeface="DejaVu Sans"/>
              </a:rPr>
              <a:t>Tidak</a:t>
            </a:r>
            <a:r>
              <a:rPr dirty="0" sz="120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343a40"/>
                </a:solidFill>
                <a:latin typeface="DejaVu Sans"/>
                <a:cs typeface="DejaVu Sans"/>
              </a:rPr>
              <a:t>ada</a:t>
            </a:r>
            <a:r>
              <a:rPr dirty="0" sz="120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343a40"/>
                </a:solidFill>
                <a:latin typeface="DejaVu Sans"/>
                <a:cs typeface="DejaVu Sans"/>
              </a:rPr>
              <a:t>server</a:t>
            </a:r>
            <a:r>
              <a:rPr dirty="0" sz="120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343a40"/>
                </a:solidFill>
                <a:latin typeface="DejaVu Sans"/>
                <a:cs typeface="DejaVu Sans"/>
              </a:rPr>
              <a:t>khusus,</a:t>
            </a:r>
            <a:r>
              <a:rPr dirty="0" sz="120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343a40"/>
                </a:solidFill>
                <a:latin typeface="DejaVu Sans"/>
                <a:cs typeface="DejaVu Sans"/>
              </a:rPr>
              <a:t>hemat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2">
                <a:solidFill>
                  <a:srgbClr val="343a40"/>
                </a:solidFill>
                <a:latin typeface="DejaVu Sans"/>
                <a:cs typeface="DejaVu Sans"/>
              </a:rPr>
              <a:t>investasi</a:t>
            </a:r>
            <a:r>
              <a:rPr dirty="0" sz="120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343a40"/>
                </a:solidFill>
                <a:latin typeface="DejaVu Sans"/>
                <a:cs typeface="DejaVu Sans"/>
              </a:rPr>
              <a:t>hardware.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36835" y="2860219"/>
            <a:ext cx="2910313" cy="4310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343a40"/>
                </a:solidFill>
                <a:latin typeface="DejaVu Sans"/>
                <a:cs typeface="DejaVu Sans"/>
              </a:rPr>
              <a:t>•</a:t>
            </a:r>
            <a:r>
              <a:rPr dirty="0" sz="1200" spc="-2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343a40"/>
                </a:solidFill>
                <a:latin typeface="DejaVu Sans"/>
                <a:cs typeface="DejaVu Sans"/>
              </a:rPr>
              <a:t>Integrasi</a:t>
            </a:r>
            <a:r>
              <a:rPr dirty="0" sz="120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343a40"/>
                </a:solidFill>
                <a:latin typeface="DejaVu Sans"/>
                <a:cs typeface="DejaVu Sans"/>
              </a:rPr>
              <a:t>cepat,</a:t>
            </a:r>
            <a:r>
              <a:rPr dirty="0" sz="120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343a40"/>
                </a:solidFill>
                <a:latin typeface="DejaVu Sans"/>
                <a:cs typeface="DejaVu Sans"/>
              </a:rPr>
              <a:t>mengurangi</a:t>
            </a:r>
            <a:r>
              <a:rPr dirty="0" sz="120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343a40"/>
                </a:solidFill>
                <a:latin typeface="DejaVu Sans"/>
                <a:cs typeface="DejaVu Sans"/>
              </a:rPr>
              <a:t>waktu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0">
                <a:solidFill>
                  <a:srgbClr val="343a40"/>
                </a:solidFill>
                <a:latin typeface="DejaVu Sans"/>
                <a:cs typeface="DejaVu Sans"/>
              </a:rPr>
              <a:t>instalasi.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437113" y="2860219"/>
            <a:ext cx="2552782" cy="4310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343a40"/>
                </a:solidFill>
                <a:latin typeface="DejaVu Sans"/>
                <a:cs typeface="DejaVu Sans"/>
              </a:rPr>
              <a:t>•</a:t>
            </a:r>
            <a:r>
              <a:rPr dirty="0" sz="1200" spc="-2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200" spc="-50">
                <a:solidFill>
                  <a:srgbClr val="343a40"/>
                </a:solidFill>
                <a:latin typeface="DejaVu Sans"/>
                <a:cs typeface="DejaVu Sans"/>
              </a:rPr>
              <a:t>Tanpa</a:t>
            </a:r>
            <a:r>
              <a:rPr dirty="0" sz="1200" spc="28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343a40"/>
                </a:solidFill>
                <a:latin typeface="DejaVu Sans"/>
                <a:cs typeface="DejaVu Sans"/>
              </a:rPr>
              <a:t>lisensi</a:t>
            </a:r>
            <a:r>
              <a:rPr dirty="0" sz="120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343a40"/>
                </a:solidFill>
                <a:latin typeface="DejaVu Sans"/>
                <a:cs typeface="DejaVu Sans"/>
              </a:rPr>
              <a:t>tambahan,</a:t>
            </a:r>
            <a:r>
              <a:rPr dirty="0" sz="120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343a40"/>
                </a:solidFill>
                <a:latin typeface="DejaVu Sans"/>
                <a:cs typeface="DejaVu Sans"/>
              </a:rPr>
              <a:t>biaya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4">
                <a:solidFill>
                  <a:srgbClr val="343a40"/>
                </a:solidFill>
                <a:latin typeface="DejaVu Sans"/>
                <a:cs typeface="DejaVu Sans"/>
              </a:rPr>
              <a:t>operasional</a:t>
            </a:r>
            <a:r>
              <a:rPr dirty="0" sz="120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343a40"/>
                </a:solidFill>
                <a:latin typeface="DejaVu Sans"/>
                <a:cs typeface="DejaVu Sans"/>
              </a:rPr>
              <a:t>rendah.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08149" y="4135060"/>
            <a:ext cx="2753064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Fokus</a:t>
            </a:r>
            <a:r>
              <a:rPr dirty="0" sz="1500" spc="18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pada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Operasional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Jaringan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SJA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708426" y="4135060"/>
            <a:ext cx="2409029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Kontrol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Data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&amp;</a:t>
            </a:r>
            <a:r>
              <a:rPr dirty="0" sz="1500" spc="14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Audit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Lokal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Penuh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36835" y="4803319"/>
            <a:ext cx="2307226" cy="4215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343a40"/>
                </a:solidFill>
                <a:latin typeface="DejaVu Sans"/>
                <a:cs typeface="DejaVu Sans"/>
              </a:rPr>
              <a:t>•</a:t>
            </a:r>
            <a:r>
              <a:rPr dirty="0" sz="1200" spc="-2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200" spc="-33">
                <a:solidFill>
                  <a:srgbClr val="343a40"/>
                </a:solidFill>
                <a:latin typeface="DejaVu Sans"/>
                <a:cs typeface="DejaVu Sans"/>
              </a:rPr>
              <a:t>Fitur</a:t>
            </a:r>
            <a:r>
              <a:rPr dirty="0" sz="1200" spc="15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343a40"/>
                </a:solidFill>
                <a:latin typeface="DejaVu Sans"/>
                <a:cs typeface="DejaVu Sans"/>
              </a:rPr>
              <a:t>inti</a:t>
            </a:r>
            <a:r>
              <a:rPr dirty="0" sz="120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343a40"/>
                </a:solidFill>
                <a:latin typeface="DejaVu Sans"/>
                <a:cs typeface="DejaVu Sans"/>
              </a:rPr>
              <a:t>disesuaikan</a:t>
            </a:r>
            <a:r>
              <a:rPr dirty="0" sz="120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343a40"/>
                </a:solidFill>
                <a:latin typeface="DejaVu Sans"/>
                <a:cs typeface="DejaVu Sans"/>
              </a:rPr>
              <a:t>untuk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20">
                <a:solidFill>
                  <a:srgbClr val="343a40"/>
                </a:solidFill>
                <a:latin typeface="DejaVu Sans"/>
                <a:cs typeface="DejaVu Sans"/>
              </a:rPr>
              <a:t>kebutuhan</a:t>
            </a:r>
            <a:r>
              <a:rPr dirty="0" sz="120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343a40"/>
                </a:solidFill>
                <a:latin typeface="DejaVu Sans"/>
                <a:cs typeface="DejaVu Sans"/>
              </a:rPr>
              <a:t>spesiﬁk</a:t>
            </a:r>
            <a:r>
              <a:rPr dirty="0" sz="120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200" spc="-27">
                <a:solidFill>
                  <a:srgbClr val="343a40"/>
                </a:solidFill>
                <a:latin typeface="DejaVu Sans"/>
                <a:cs typeface="DejaVu Sans"/>
              </a:rPr>
              <a:t>SJA.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437113" y="4803319"/>
            <a:ext cx="2324484" cy="4215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343a40"/>
                </a:solidFill>
                <a:latin typeface="DejaVu Sans"/>
                <a:cs typeface="DejaVu Sans"/>
              </a:rPr>
              <a:t>•</a:t>
            </a:r>
            <a:r>
              <a:rPr dirty="0" sz="1200" spc="-2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343a40"/>
                </a:solidFill>
                <a:latin typeface="DejaVu Sans"/>
                <a:cs typeface="DejaVu Sans"/>
              </a:rPr>
              <a:t>Data</a:t>
            </a:r>
            <a:r>
              <a:rPr dirty="0" sz="120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343a40"/>
                </a:solidFill>
                <a:latin typeface="DejaVu Sans"/>
                <a:cs typeface="DejaVu Sans"/>
              </a:rPr>
              <a:t>sensitif</a:t>
            </a:r>
            <a:r>
              <a:rPr dirty="0" sz="120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343a40"/>
                </a:solidFill>
                <a:latin typeface="DejaVu Sans"/>
                <a:cs typeface="DejaVu Sans"/>
              </a:rPr>
              <a:t>tetap</a:t>
            </a:r>
            <a:r>
              <a:rPr dirty="0" sz="1200" spc="-1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343a40"/>
                </a:solidFill>
                <a:latin typeface="DejaVu Sans"/>
                <a:cs typeface="DejaVu Sans"/>
              </a:rPr>
              <a:t>aman</a:t>
            </a:r>
            <a:r>
              <a:rPr dirty="0" sz="120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343a40"/>
                </a:solidFill>
                <a:latin typeface="DejaVu Sans"/>
                <a:cs typeface="DejaVu Sans"/>
              </a:rPr>
              <a:t>di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7">
                <a:solidFill>
                  <a:srgbClr val="343a40"/>
                </a:solidFill>
                <a:latin typeface="DejaVu Sans"/>
                <a:cs typeface="DejaVu Sans"/>
              </a:rPr>
              <a:t>lingkungan</a:t>
            </a:r>
            <a:r>
              <a:rPr dirty="0" sz="120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343a40"/>
                </a:solidFill>
                <a:latin typeface="DejaVu Sans"/>
                <a:cs typeface="DejaVu Sans"/>
              </a:rPr>
              <a:t>lokal</a:t>
            </a:r>
            <a:r>
              <a:rPr dirty="0" sz="120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200" spc="-27">
                <a:solidFill>
                  <a:srgbClr val="343a40"/>
                </a:solidFill>
                <a:latin typeface="DejaVu Sans"/>
                <a:cs typeface="DejaVu Sans"/>
              </a:rPr>
              <a:t>SJA.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36835" y="5270044"/>
            <a:ext cx="3006740" cy="4215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343a40"/>
                </a:solidFill>
                <a:latin typeface="DejaVu Sans"/>
                <a:cs typeface="DejaVu Sans"/>
              </a:rPr>
              <a:t>•</a:t>
            </a:r>
            <a:r>
              <a:rPr dirty="0" sz="1200" spc="-2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343a40"/>
                </a:solidFill>
                <a:latin typeface="DejaVu Sans"/>
                <a:cs typeface="DejaVu Sans"/>
              </a:rPr>
              <a:t>Menghilangkan</a:t>
            </a:r>
            <a:r>
              <a:rPr dirty="0" sz="120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343a40"/>
                </a:solidFill>
                <a:latin typeface="DejaVu Sans"/>
                <a:cs typeface="DejaVu Sans"/>
              </a:rPr>
              <a:t>kerumitan</a:t>
            </a:r>
            <a:r>
              <a:rPr dirty="0" sz="120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343a40"/>
                </a:solidFill>
                <a:latin typeface="DejaVu Sans"/>
                <a:cs typeface="DejaVu Sans"/>
              </a:rPr>
              <a:t>ﬁtur</a:t>
            </a:r>
            <a:r>
              <a:rPr dirty="0" sz="120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343a40"/>
                </a:solidFill>
                <a:latin typeface="DejaVu Sans"/>
                <a:cs typeface="DejaVu Sans"/>
              </a:rPr>
              <a:t>yang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1">
                <a:solidFill>
                  <a:srgbClr val="343a40"/>
                </a:solidFill>
                <a:latin typeface="DejaVu Sans"/>
                <a:cs typeface="DejaVu Sans"/>
              </a:rPr>
              <a:t>tidak</a:t>
            </a:r>
            <a:r>
              <a:rPr dirty="0" sz="1200" spc="-1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343a40"/>
                </a:solidFill>
                <a:latin typeface="DejaVu Sans"/>
                <a:cs typeface="DejaVu Sans"/>
              </a:rPr>
              <a:t>relevan.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437113" y="5270044"/>
            <a:ext cx="3028386" cy="4215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>
                <a:solidFill>
                  <a:srgbClr val="343a40"/>
                </a:solidFill>
                <a:latin typeface="DejaVu Sans"/>
                <a:cs typeface="DejaVu Sans"/>
              </a:rPr>
              <a:t>•</a:t>
            </a:r>
            <a:r>
              <a:rPr dirty="0" sz="1200" spc="-2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343a40"/>
                </a:solidFill>
                <a:latin typeface="DejaVu Sans"/>
                <a:cs typeface="DejaVu Sans"/>
              </a:rPr>
              <a:t>Jejak</a:t>
            </a:r>
            <a:r>
              <a:rPr dirty="0" sz="1200" spc="-1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343a40"/>
                </a:solidFill>
                <a:latin typeface="DejaVu Sans"/>
                <a:cs typeface="DejaVu Sans"/>
              </a:rPr>
              <a:t>audit</a:t>
            </a:r>
            <a:r>
              <a:rPr dirty="0" sz="120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343a40"/>
                </a:solidFill>
                <a:latin typeface="DejaVu Sans"/>
                <a:cs typeface="DejaVu Sans"/>
              </a:rPr>
              <a:t>lengkap</a:t>
            </a:r>
            <a:r>
              <a:rPr dirty="0" sz="120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343a40"/>
                </a:solidFill>
                <a:latin typeface="DejaVu Sans"/>
                <a:cs typeface="DejaVu Sans"/>
              </a:rPr>
              <a:t>untuk</a:t>
            </a:r>
            <a:r>
              <a:rPr dirty="0" sz="120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343a40"/>
                </a:solidFill>
                <a:latin typeface="DejaVu Sans"/>
                <a:cs typeface="DejaVu Sans"/>
              </a:rPr>
              <a:t>kepatuhan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5">
                <a:solidFill>
                  <a:srgbClr val="343a40"/>
                </a:solidFill>
                <a:latin typeface="DejaVu Sans"/>
                <a:cs typeface="DejaVu Sans"/>
              </a:rPr>
              <a:t>regulasi.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676697" y="6240839"/>
            <a:ext cx="3147892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343a40"/>
                </a:solidFill>
                <a:latin typeface="DejaVu Sans"/>
                <a:cs typeface="DejaVu Sans"/>
              </a:rPr>
              <a:t>Perbandingan</a:t>
            </a:r>
            <a:r>
              <a:rPr dirty="0" sz="135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343a40"/>
                </a:solidFill>
                <a:latin typeface="DejaVu Sans"/>
                <a:cs typeface="DejaVu Sans"/>
              </a:rPr>
              <a:t>Eﬁsiensi</a:t>
            </a:r>
            <a:r>
              <a:rPr dirty="0" sz="135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343a40"/>
                </a:solidFill>
                <a:latin typeface="DejaVu Sans"/>
                <a:cs typeface="DejaVu Sans"/>
              </a:rPr>
              <a:t>&amp;</a:t>
            </a:r>
            <a:r>
              <a:rPr dirty="0" sz="135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350" spc="-15" b="1">
                <a:solidFill>
                  <a:srgbClr val="343a40"/>
                </a:solidFill>
                <a:latin typeface="DejaVu Sans"/>
                <a:cs typeface="DejaVu Sans"/>
              </a:rPr>
              <a:t>Biaya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432648" y="6859964"/>
            <a:ext cx="5485868" cy="998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spc="-38">
                <a:solidFill>
                  <a:srgbClr val="343a40"/>
                </a:solidFill>
                <a:latin typeface="DejaVu Sans"/>
                <a:cs typeface="DejaVu Sans"/>
              </a:rPr>
              <a:t>"ATI</a:t>
            </a:r>
            <a:r>
              <a:rPr dirty="0" sz="1350" spc="34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350" spc="-17">
                <a:solidFill>
                  <a:srgbClr val="343a40"/>
                </a:solidFill>
                <a:latin typeface="DejaVu Sans"/>
                <a:cs typeface="DejaVu Sans"/>
              </a:rPr>
              <a:t>BCM</a:t>
            </a:r>
            <a:r>
              <a:rPr dirty="0" sz="135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43a40"/>
                </a:solidFill>
                <a:latin typeface="DejaVu Sans"/>
                <a:cs typeface="DejaVu Sans"/>
              </a:rPr>
              <a:t>menyediakan</a:t>
            </a:r>
            <a:r>
              <a:rPr dirty="0" sz="135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43a40"/>
                </a:solidFill>
                <a:latin typeface="DejaVu Sans"/>
                <a:cs typeface="DejaVu Sans"/>
              </a:rPr>
              <a:t>solusi</a:t>
            </a:r>
            <a:r>
              <a:rPr dirty="0" sz="135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43a40"/>
                </a:solidFill>
                <a:latin typeface="DejaVu Sans"/>
                <a:cs typeface="DejaVu Sans"/>
              </a:rPr>
              <a:t>manajemen</a:t>
            </a:r>
            <a:r>
              <a:rPr dirty="0" sz="135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43a40"/>
                </a:solidFill>
                <a:latin typeface="DejaVu Sans"/>
                <a:cs typeface="DejaVu Sans"/>
              </a:rPr>
              <a:t>konﬁgurasi</a:t>
            </a:r>
            <a:r>
              <a:rPr dirty="0" sz="135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43a40"/>
                </a:solidFill>
                <a:latin typeface="DejaVu Sans"/>
                <a:cs typeface="DejaVu Sans"/>
              </a:rPr>
              <a:t>jaringan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dirty="0" sz="1350">
                <a:solidFill>
                  <a:srgbClr val="343a40"/>
                </a:solidFill>
                <a:latin typeface="DejaVu Sans"/>
                <a:cs typeface="DejaVu Sans"/>
              </a:rPr>
              <a:t>yang</a:t>
            </a:r>
            <a:r>
              <a:rPr dirty="0" sz="135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43a40"/>
                </a:solidFill>
                <a:latin typeface="DejaVu Sans"/>
                <a:cs typeface="DejaVu Sans"/>
              </a:rPr>
              <a:t>ﬂeksibel</a:t>
            </a:r>
            <a:r>
              <a:rPr dirty="0" sz="135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43a40"/>
                </a:solidFill>
                <a:latin typeface="DejaVu Sans"/>
                <a:cs typeface="DejaVu Sans"/>
              </a:rPr>
              <a:t>dan</a:t>
            </a:r>
            <a:r>
              <a:rPr dirty="0" sz="135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350" spc="-10">
                <a:solidFill>
                  <a:srgbClr val="343a40"/>
                </a:solidFill>
                <a:latin typeface="DejaVu Sans"/>
                <a:cs typeface="DejaVu Sans"/>
              </a:rPr>
              <a:t>berfokus</a:t>
            </a:r>
            <a:r>
              <a:rPr dirty="0" sz="135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43a40"/>
                </a:solidFill>
                <a:latin typeface="DejaVu Sans"/>
                <a:cs typeface="DejaVu Sans"/>
              </a:rPr>
              <a:t>pada</a:t>
            </a:r>
            <a:r>
              <a:rPr dirty="0" sz="135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43a40"/>
                </a:solidFill>
                <a:latin typeface="DejaVu Sans"/>
                <a:cs typeface="DejaVu Sans"/>
              </a:rPr>
              <a:t>inti,</a:t>
            </a:r>
            <a:r>
              <a:rPr dirty="0" sz="135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43a40"/>
                </a:solidFill>
                <a:latin typeface="DejaVu Sans"/>
                <a:cs typeface="DejaVu Sans"/>
              </a:rPr>
              <a:t>mengoptimalkan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dirty="0" sz="1350">
                <a:solidFill>
                  <a:srgbClr val="343a40"/>
                </a:solidFill>
                <a:latin typeface="DejaVu Sans"/>
                <a:cs typeface="DejaVu Sans"/>
              </a:rPr>
              <a:t>operasi</a:t>
            </a:r>
            <a:r>
              <a:rPr dirty="0" sz="135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43a40"/>
                </a:solidFill>
                <a:latin typeface="DejaVu Sans"/>
                <a:cs typeface="DejaVu Sans"/>
              </a:rPr>
              <a:t>Jaringan</a:t>
            </a:r>
            <a:r>
              <a:rPr dirty="0" sz="135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350" spc="-15">
                <a:solidFill>
                  <a:srgbClr val="343a40"/>
                </a:solidFill>
                <a:latin typeface="DejaVu Sans"/>
                <a:cs typeface="DejaVu Sans"/>
              </a:rPr>
              <a:t>SJA</a:t>
            </a:r>
            <a:r>
              <a:rPr dirty="0" sz="135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43a40"/>
                </a:solidFill>
                <a:latin typeface="DejaVu Sans"/>
                <a:cs typeface="DejaVu Sans"/>
              </a:rPr>
              <a:t>dengan</a:t>
            </a:r>
            <a:r>
              <a:rPr dirty="0" sz="135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43a40"/>
                </a:solidFill>
                <a:latin typeface="DejaVu Sans"/>
                <a:cs typeface="DejaVu Sans"/>
              </a:rPr>
              <a:t>biaya</a:t>
            </a:r>
            <a:r>
              <a:rPr dirty="0" sz="135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43a40"/>
                </a:solidFill>
                <a:latin typeface="DejaVu Sans"/>
                <a:cs typeface="DejaVu Sans"/>
              </a:rPr>
              <a:t>minimal</a:t>
            </a:r>
            <a:r>
              <a:rPr dirty="0" sz="135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343a40"/>
                </a:solidFill>
                <a:latin typeface="DejaVu Sans"/>
                <a:cs typeface="DejaVu Sans"/>
              </a:rPr>
              <a:t>dan</a:t>
            </a:r>
            <a:r>
              <a:rPr dirty="0" sz="135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350" spc="-17">
                <a:solidFill>
                  <a:srgbClr val="343a40"/>
                </a:solidFill>
                <a:latin typeface="DejaVu Sans"/>
                <a:cs typeface="DejaVu Sans"/>
              </a:rPr>
              <a:t>kontrol</a:t>
            </a:r>
          </a:p>
          <a:p>
            <a:pPr marL="0" marR="0">
              <a:lnSpc>
                <a:spcPts val="1564"/>
              </a:lnSpc>
              <a:spcBef>
                <a:spcPts val="460"/>
              </a:spcBef>
              <a:spcAft>
                <a:spcPts val="0"/>
              </a:spcAft>
            </a:pPr>
            <a:r>
              <a:rPr dirty="0" sz="1350">
                <a:solidFill>
                  <a:srgbClr val="343a40"/>
                </a:solidFill>
                <a:latin typeface="DejaVu Sans"/>
                <a:cs typeface="DejaVu Sans"/>
              </a:rPr>
              <a:t>penuh."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522540" y="8175169"/>
            <a:ext cx="765997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343a40"/>
                </a:solidFill>
                <a:latin typeface="DejaVu Sans"/>
                <a:cs typeface="DejaVu Sans"/>
              </a:rPr>
              <a:t>Eﬁsiensi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690394" y="8175169"/>
            <a:ext cx="1114317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8">
                <a:solidFill>
                  <a:srgbClr val="343a40"/>
                </a:solidFill>
                <a:latin typeface="DejaVu Sans"/>
                <a:cs typeface="DejaVu Sans"/>
              </a:rPr>
              <a:t>Kontrol</a:t>
            </a:r>
            <a:r>
              <a:rPr dirty="0" sz="1200" spc="12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200" spc="-25">
                <a:solidFill>
                  <a:srgbClr val="343a40"/>
                </a:solidFill>
                <a:latin typeface="DejaVu Sans"/>
                <a:cs typeface="DejaVu Sans"/>
              </a:rPr>
              <a:t>Lokal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9206953" y="8175169"/>
            <a:ext cx="68833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343a40"/>
                </a:solidFill>
                <a:latin typeface="DejaVu Sans"/>
                <a:cs typeface="DejaVu Sans"/>
              </a:rPr>
              <a:t>Adaptif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10228198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06648" y="394341"/>
            <a:ext cx="10731100" cy="485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5" b="1">
                <a:solidFill>
                  <a:srgbClr val="5cb85c"/>
                </a:solidFill>
                <a:latin typeface="DejaVu Sans"/>
                <a:cs typeface="DejaVu Sans"/>
              </a:rPr>
              <a:t>Ringkasan</a:t>
            </a:r>
            <a:r>
              <a:rPr dirty="0" sz="3000" spc="10" b="1">
                <a:solidFill>
                  <a:srgbClr val="5cb85c"/>
                </a:solidFill>
                <a:latin typeface="DejaVu Sans"/>
                <a:cs typeface="DejaVu Sans"/>
              </a:rPr>
              <a:t> </a:t>
            </a:r>
            <a:r>
              <a:rPr dirty="0" sz="3000" spc="10" b="1">
                <a:solidFill>
                  <a:srgbClr val="5cb85c"/>
                </a:solidFill>
                <a:latin typeface="DejaVu Sans"/>
                <a:cs typeface="DejaVu Sans"/>
              </a:rPr>
              <a:t>Keunggulan</a:t>
            </a:r>
            <a:r>
              <a:rPr dirty="0" sz="3000" spc="15" b="1">
                <a:solidFill>
                  <a:srgbClr val="5cb85c"/>
                </a:solidFill>
                <a:latin typeface="DejaVu Sans"/>
                <a:cs typeface="DejaVu Sans"/>
              </a:rPr>
              <a:t> </a:t>
            </a:r>
            <a:r>
              <a:rPr dirty="0" sz="3000" spc="-67" b="1">
                <a:solidFill>
                  <a:srgbClr val="343a40"/>
                </a:solidFill>
                <a:latin typeface="DejaVu Sans"/>
                <a:cs typeface="DejaVu Sans"/>
              </a:rPr>
              <a:t>ATI</a:t>
            </a:r>
            <a:r>
              <a:rPr dirty="0" sz="3000" spc="83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3000" spc="15" b="1">
                <a:solidFill>
                  <a:srgbClr val="343a40"/>
                </a:solidFill>
                <a:latin typeface="DejaVu Sans"/>
                <a:cs typeface="DejaVu Sans"/>
              </a:rPr>
              <a:t>Backup</a:t>
            </a:r>
            <a:r>
              <a:rPr dirty="0" sz="30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3000" spc="15" b="1">
                <a:solidFill>
                  <a:srgbClr val="343a40"/>
                </a:solidFill>
                <a:latin typeface="DejaVu Sans"/>
                <a:cs typeface="DejaVu Sans"/>
              </a:rPr>
              <a:t>Conﬁguration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559224" y="822966"/>
            <a:ext cx="5225866" cy="485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8" b="1">
                <a:solidFill>
                  <a:srgbClr val="343a40"/>
                </a:solidFill>
                <a:latin typeface="DejaVu Sans"/>
                <a:cs typeface="DejaVu Sans"/>
              </a:rPr>
              <a:t>Management</a:t>
            </a:r>
            <a:r>
              <a:rPr dirty="0" sz="30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3000" spc="-46" b="1">
                <a:solidFill>
                  <a:srgbClr val="343a40"/>
                </a:solidFill>
                <a:latin typeface="DejaVu Sans"/>
                <a:cs typeface="DejaVu Sans"/>
              </a:rPr>
              <a:t>(ATI</a:t>
            </a:r>
            <a:r>
              <a:rPr dirty="0" sz="3000" spc="63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3000" spc="18" b="1">
                <a:solidFill>
                  <a:srgbClr val="343a40"/>
                </a:solidFill>
                <a:latin typeface="DejaVu Sans"/>
                <a:cs typeface="DejaVu Sans"/>
              </a:rPr>
              <a:t>BCM)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1125" y="1639382"/>
            <a:ext cx="1837204" cy="5664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DejaVu Sans"/>
                <a:cs typeface="DejaVu Sans"/>
              </a:rPr>
              <a:t>Kesederhanaan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DejaVu Sans"/>
                <a:cs typeface="DejaVu Sans"/>
              </a:rPr>
              <a:t>&amp;</a:t>
            </a:r>
            <a:r>
              <a:rPr dirty="0" sz="1500" spc="14" b="1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DejaVu Sans"/>
                <a:cs typeface="DejaVu Sans"/>
              </a:rPr>
              <a:t>Portabilitas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747467" y="1639382"/>
            <a:ext cx="1710265" cy="5664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DejaVu Sans"/>
                <a:cs typeface="DejaVu Sans"/>
              </a:rPr>
              <a:t>Eﬁsiensi</a:t>
            </a:r>
            <a:r>
              <a:rPr dirty="0" sz="1500" b="1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DejaVu Sans"/>
                <a:cs typeface="DejaVu Sans"/>
              </a:rPr>
              <a:t>Biaya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DejaVu Sans"/>
                <a:cs typeface="DejaVu Sans"/>
              </a:rPr>
              <a:t>Operasional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583810" y="1639382"/>
            <a:ext cx="1306044" cy="5664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DejaVu Sans"/>
                <a:cs typeface="DejaVu Sans"/>
              </a:rPr>
              <a:t>Keamanan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DejaVu Sans"/>
                <a:cs typeface="DejaVu Sans"/>
              </a:rPr>
              <a:t>Kredensial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770435" y="1660696"/>
            <a:ext cx="1024946" cy="3585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Lightweight</a:t>
            </a:r>
          </a:p>
          <a:p>
            <a:pPr marL="0" marR="0">
              <a:lnSpc>
                <a:spcPts val="1173"/>
              </a:lnSpc>
              <a:spcBef>
                <a:spcPts val="126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Deployment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667648" y="1660696"/>
            <a:ext cx="934245" cy="3585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No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License</a:t>
            </a:r>
          </a:p>
          <a:p>
            <a:pPr marL="0" marR="0">
              <a:lnSpc>
                <a:spcPts val="1173"/>
              </a:lnSpc>
              <a:spcBef>
                <a:spcPts val="126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Required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583167" y="1660696"/>
            <a:ext cx="848049" cy="3585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Auditable</a:t>
            </a:r>
          </a:p>
          <a:p>
            <a:pPr marL="0" marR="0">
              <a:lnSpc>
                <a:spcPts val="1173"/>
              </a:lnSpc>
              <a:spcBef>
                <a:spcPts val="126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Data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97247" y="2307642"/>
            <a:ext cx="2796784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206424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1">
                <a:solidFill>
                  <a:srgbClr val="4b5563"/>
                </a:solidFill>
                <a:latin typeface="DejaVu Sans"/>
                <a:cs typeface="DejaVu Sans"/>
              </a:rPr>
              <a:t>Instalasi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4b5563"/>
                </a:solidFill>
                <a:latin typeface="DejaVu Sans"/>
                <a:cs typeface="DejaVu Sans"/>
              </a:rPr>
              <a:t>ringkas,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4b5563"/>
                </a:solidFill>
                <a:latin typeface="DejaVu Sans"/>
                <a:cs typeface="DejaVu Sans"/>
              </a:rPr>
              <a:t>ﬂeksibel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4b5563"/>
                </a:solidFill>
                <a:latin typeface="DejaVu Sans"/>
                <a:cs typeface="DejaVu Sans"/>
              </a:rPr>
              <a:t>dalam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5">
                <a:solidFill>
                  <a:srgbClr val="4b5563"/>
                </a:solidFill>
                <a:latin typeface="DejaVu Sans"/>
                <a:cs typeface="DejaVu Sans"/>
              </a:rPr>
              <a:t>penempatan.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640014" y="2307642"/>
            <a:ext cx="3013198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50">
                <a:solidFill>
                  <a:srgbClr val="4b5563"/>
                </a:solidFill>
                <a:latin typeface="DejaVu Sans"/>
                <a:cs typeface="DejaVu Sans"/>
              </a:rPr>
              <a:t>Tanpa</a:t>
            </a:r>
            <a:r>
              <a:rPr dirty="0" sz="1200" spc="28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4b5563"/>
                </a:solidFill>
                <a:latin typeface="DejaVu Sans"/>
                <a:cs typeface="DejaVu Sans"/>
              </a:rPr>
              <a:t>biaya</a:t>
            </a:r>
            <a:r>
              <a:rPr dirty="0" sz="1200" spc="-1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4b5563"/>
                </a:solidFill>
                <a:latin typeface="DejaVu Sans"/>
                <a:cs typeface="DejaVu Sans"/>
              </a:rPr>
              <a:t>lisensi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4b5563"/>
                </a:solidFill>
                <a:latin typeface="DejaVu Sans"/>
                <a:cs typeface="DejaVu Sans"/>
              </a:rPr>
              <a:t>tambahan.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5">
                <a:solidFill>
                  <a:srgbClr val="4b5563"/>
                </a:solidFill>
                <a:latin typeface="DejaVu Sans"/>
                <a:cs typeface="DejaVu Sans"/>
              </a:rPr>
              <a:t>Minimalkan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4b5563"/>
                </a:solidFill>
                <a:latin typeface="DejaVu Sans"/>
                <a:cs typeface="DejaVu Sans"/>
              </a:rPr>
              <a:t>pengeluaran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4b5563"/>
                </a:solidFill>
                <a:latin typeface="DejaVu Sans"/>
                <a:cs typeface="DejaVu Sans"/>
              </a:rPr>
              <a:t>infrastruktur.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476356" y="2307642"/>
            <a:ext cx="2937836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4b5563"/>
                </a:solidFill>
                <a:latin typeface="DejaVu Sans"/>
                <a:cs typeface="DejaVu Sans"/>
              </a:rPr>
              <a:t>Perlindungan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4b5563"/>
                </a:solidFill>
                <a:latin typeface="DejaVu Sans"/>
                <a:cs typeface="DejaVu Sans"/>
              </a:rPr>
              <a:t>data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4b5563"/>
                </a:solidFill>
                <a:latin typeface="DejaVu Sans"/>
                <a:cs typeface="DejaVu Sans"/>
              </a:rPr>
              <a:t>sensitif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4b5563"/>
                </a:solidFill>
                <a:latin typeface="DejaVu Sans"/>
                <a:cs typeface="DejaVu Sans"/>
              </a:rPr>
              <a:t>yang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23">
                <a:solidFill>
                  <a:srgbClr val="4b5563"/>
                </a:solidFill>
                <a:latin typeface="DejaVu Sans"/>
                <a:cs typeface="DejaVu Sans"/>
              </a:rPr>
              <a:t>kuat.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4">
                <a:solidFill>
                  <a:srgbClr val="4b5563"/>
                </a:solidFill>
                <a:latin typeface="DejaVu Sans"/>
                <a:cs typeface="DejaVu Sans"/>
              </a:rPr>
              <a:t>Audit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4b5563"/>
                </a:solidFill>
                <a:latin typeface="DejaVu Sans"/>
                <a:cs typeface="DejaVu Sans"/>
              </a:rPr>
              <a:t>trail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4b5563"/>
                </a:solidFill>
                <a:latin typeface="DejaVu Sans"/>
                <a:cs typeface="DejaVu Sans"/>
              </a:rPr>
              <a:t>untuk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4b5563"/>
                </a:solidFill>
                <a:latin typeface="DejaVu Sans"/>
                <a:cs typeface="DejaVu Sans"/>
              </a:rPr>
              <a:t>akuntabilitas.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03671" y="2736267"/>
            <a:ext cx="2830982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1">
                <a:solidFill>
                  <a:srgbClr val="4b5563"/>
                </a:solidFill>
                <a:latin typeface="DejaVu Sans"/>
                <a:cs typeface="DejaVu Sans"/>
              </a:rPr>
              <a:t>Tidak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4b5563"/>
                </a:solidFill>
                <a:latin typeface="DejaVu Sans"/>
                <a:cs typeface="DejaVu Sans"/>
              </a:rPr>
              <a:t>membutuhkan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4b5563"/>
                </a:solidFill>
                <a:latin typeface="DejaVu Sans"/>
                <a:cs typeface="DejaVu Sans"/>
              </a:rPr>
              <a:t>server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4b5563"/>
                </a:solidFill>
                <a:latin typeface="DejaVu Sans"/>
                <a:cs typeface="DejaVu Sans"/>
              </a:rPr>
              <a:t>khusus.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11125" y="4630232"/>
            <a:ext cx="1628790" cy="556902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DejaVu Sans"/>
                <a:cs typeface="DejaVu Sans"/>
              </a:rPr>
              <a:t>Penjadwalan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DejaVu Sans"/>
                <a:cs typeface="DejaVu Sans"/>
              </a:rPr>
              <a:t>Backup</a:t>
            </a:r>
            <a:r>
              <a:rPr dirty="0" sz="1500" b="1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DejaVu Sans"/>
                <a:cs typeface="DejaVu Sans"/>
              </a:rPr>
              <a:t>Andal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880865" y="4642021"/>
            <a:ext cx="951187" cy="3585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Automated</a:t>
            </a:r>
          </a:p>
          <a:p>
            <a:pPr marL="0" marR="0">
              <a:lnSpc>
                <a:spcPts val="1173"/>
              </a:lnSpc>
              <a:spcBef>
                <a:spcPts val="126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Backup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747467" y="4630232"/>
            <a:ext cx="2625392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1f2937"/>
                </a:solidFill>
                <a:latin typeface="DejaVu Sans"/>
                <a:cs typeface="DejaVu Sans"/>
              </a:rPr>
              <a:t>Solusi</a:t>
            </a:r>
            <a:r>
              <a:rPr dirty="0" sz="1500" b="1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 spc="-31" b="1">
                <a:solidFill>
                  <a:srgbClr val="1f2937"/>
                </a:solidFill>
                <a:latin typeface="DejaVu Sans"/>
                <a:cs typeface="DejaVu Sans"/>
              </a:rPr>
              <a:t>Tanpa</a:t>
            </a:r>
            <a:r>
              <a:rPr dirty="0" sz="1500" spc="43" b="1">
                <a:solidFill>
                  <a:srgbClr val="1f2937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1f2937"/>
                </a:solidFill>
                <a:latin typeface="DejaVu Sans"/>
                <a:cs typeface="DejaVu Sans"/>
              </a:rPr>
              <a:t>Overhead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0157667" y="4642021"/>
            <a:ext cx="146139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Operational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Focus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640014" y="4993692"/>
            <a:ext cx="2609766" cy="4215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34">
                <a:solidFill>
                  <a:srgbClr val="4b5563"/>
                </a:solidFill>
                <a:latin typeface="DejaVu Sans"/>
                <a:cs typeface="DejaVu Sans"/>
              </a:rPr>
              <a:t>Fokus</a:t>
            </a:r>
            <a:r>
              <a:rPr dirty="0" sz="1200" spc="14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4b5563"/>
                </a:solidFill>
                <a:latin typeface="DejaVu Sans"/>
                <a:cs typeface="DejaVu Sans"/>
              </a:rPr>
              <a:t>pada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4b5563"/>
                </a:solidFill>
                <a:latin typeface="DejaVu Sans"/>
                <a:cs typeface="DejaVu Sans"/>
              </a:rPr>
              <a:t>kebutuhan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4b5563"/>
                </a:solidFill>
                <a:latin typeface="DejaVu Sans"/>
                <a:cs typeface="DejaVu Sans"/>
              </a:rPr>
              <a:t>esensial.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4">
                <a:solidFill>
                  <a:srgbClr val="4b5563"/>
                </a:solidFill>
                <a:latin typeface="DejaVu Sans"/>
                <a:cs typeface="DejaVu Sans"/>
              </a:rPr>
              <a:t>Hindari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4b5563"/>
                </a:solidFill>
                <a:latin typeface="DejaVu Sans"/>
                <a:cs typeface="DejaVu Sans"/>
              </a:rPr>
              <a:t>kompleksitas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4b5563"/>
                </a:solidFill>
                <a:latin typeface="DejaVu Sans"/>
                <a:cs typeface="DejaVu Sans"/>
              </a:rPr>
              <a:t>berlebihan.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03671" y="5288967"/>
            <a:ext cx="2956350" cy="43102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4b5563"/>
                </a:solidFill>
                <a:latin typeface="DejaVu Sans"/>
                <a:cs typeface="DejaVu Sans"/>
              </a:rPr>
              <a:t>Otomatisasi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21">
                <a:solidFill>
                  <a:srgbClr val="4b5563"/>
                </a:solidFill>
                <a:latin typeface="DejaVu Sans"/>
                <a:cs typeface="DejaVu Sans"/>
              </a:rPr>
              <a:t>backup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4b5563"/>
                </a:solidFill>
                <a:latin typeface="DejaVu Sans"/>
                <a:cs typeface="DejaVu Sans"/>
              </a:rPr>
              <a:t>tanpa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4b5563"/>
                </a:solidFill>
                <a:latin typeface="DejaVu Sans"/>
                <a:cs typeface="DejaVu Sans"/>
              </a:rPr>
              <a:t>gangguan.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5">
                <a:solidFill>
                  <a:srgbClr val="4b5563"/>
                </a:solidFill>
                <a:latin typeface="DejaVu Sans"/>
                <a:cs typeface="DejaVu Sans"/>
              </a:rPr>
              <a:t>Operasi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4b5563"/>
                </a:solidFill>
                <a:latin typeface="DejaVu Sans"/>
                <a:cs typeface="DejaVu Sans"/>
              </a:rPr>
              <a:t>di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4b5563"/>
                </a:solidFill>
                <a:latin typeface="DejaVu Sans"/>
                <a:cs typeface="DejaVu Sans"/>
              </a:rPr>
              <a:t>latar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4b5563"/>
                </a:solidFill>
                <a:latin typeface="DejaVu Sans"/>
                <a:cs typeface="DejaVu Sans"/>
              </a:rPr>
              <a:t>belakang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4b5563"/>
                </a:solidFill>
                <a:latin typeface="DejaVu Sans"/>
                <a:cs typeface="DejaVu Sans"/>
              </a:rPr>
              <a:t>otomatis.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911125" y="7402007"/>
            <a:ext cx="1033628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spc="-33" b="1">
                <a:solidFill>
                  <a:srgbClr val="343a40"/>
                </a:solidFill>
                <a:latin typeface="DejaVu Sans"/>
                <a:cs typeface="DejaVu Sans"/>
              </a:rPr>
              <a:t>ATI</a:t>
            </a:r>
            <a:r>
              <a:rPr dirty="0" sz="1500" spc="41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BCM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665713" y="7402007"/>
            <a:ext cx="1998904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Solusi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Enterprise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03671" y="7765467"/>
            <a:ext cx="3299969" cy="4310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34">
                <a:solidFill>
                  <a:srgbClr val="4b5563"/>
                </a:solidFill>
                <a:latin typeface="DejaVu Sans"/>
                <a:cs typeface="DejaVu Sans"/>
              </a:rPr>
              <a:t>Fokus</a:t>
            </a:r>
            <a:r>
              <a:rPr dirty="0" sz="1200" spc="14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4b5563"/>
                </a:solidFill>
                <a:latin typeface="DejaVu Sans"/>
                <a:cs typeface="DejaVu Sans"/>
              </a:rPr>
              <a:t>pada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4b5563"/>
                </a:solidFill>
                <a:latin typeface="DejaVu Sans"/>
                <a:cs typeface="DejaVu Sans"/>
              </a:rPr>
              <a:t>kebutuhan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&amp;</a:t>
            </a:r>
            <a:r>
              <a:rPr dirty="0" sz="1200" spc="-27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4b5563"/>
                </a:solidFill>
                <a:latin typeface="DejaVu Sans"/>
                <a:cs typeface="DejaVu Sans"/>
              </a:rPr>
              <a:t>Cost-Eﬀective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4">
                <a:solidFill>
                  <a:srgbClr val="4b5563"/>
                </a:solidFill>
                <a:latin typeface="DejaVu Sans"/>
                <a:cs typeface="DejaVu Sans"/>
              </a:rPr>
              <a:t>Quick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4b5563"/>
                </a:solidFill>
                <a:latin typeface="DejaVu Sans"/>
                <a:cs typeface="DejaVu Sans"/>
              </a:rPr>
              <a:t>Deployment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&amp;</a:t>
            </a:r>
            <a:r>
              <a:rPr dirty="0" sz="1200" spc="-27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4b5563"/>
                </a:solidFill>
                <a:latin typeface="DejaVu Sans"/>
                <a:cs typeface="DejaVu Sans"/>
              </a:rPr>
              <a:t>Dedicated</a:t>
            </a:r>
            <a:r>
              <a:rPr dirty="0" sz="1200" spc="-1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4b5563"/>
                </a:solidFill>
                <a:latin typeface="DejaVu Sans"/>
                <a:cs typeface="DejaVu Sans"/>
              </a:rPr>
              <a:t>to</a:t>
            </a:r>
            <a:r>
              <a:rPr dirty="0" sz="1200" spc="-12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21">
                <a:solidFill>
                  <a:srgbClr val="4b5563"/>
                </a:solidFill>
                <a:latin typeface="DejaVu Sans"/>
                <a:cs typeface="DejaVu Sans"/>
              </a:rPr>
              <a:t>Backup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6558259" y="7765467"/>
            <a:ext cx="3319545" cy="4310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4b5563"/>
                </a:solidFill>
                <a:latin typeface="DejaVu Sans"/>
                <a:cs typeface="DejaVu Sans"/>
              </a:rPr>
              <a:t>Kompleksitas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4b5563"/>
                </a:solidFill>
                <a:latin typeface="DejaVu Sans"/>
                <a:cs typeface="DejaVu Sans"/>
              </a:rPr>
              <a:t>Tinggi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&amp;</a:t>
            </a:r>
            <a:r>
              <a:rPr dirty="0" sz="1200" spc="-27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4b5563"/>
                </a:solidFill>
                <a:latin typeface="DejaVu Sans"/>
                <a:cs typeface="DejaVu Sans"/>
              </a:rPr>
              <a:t>Biaya</a:t>
            </a:r>
            <a:r>
              <a:rPr dirty="0" sz="1200" spc="-1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4b5563"/>
                </a:solidFill>
                <a:latin typeface="DejaVu Sans"/>
                <a:cs typeface="DejaVu Sans"/>
              </a:rPr>
              <a:t>Lisensi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4b5563"/>
                </a:solidFill>
                <a:latin typeface="DejaVu Sans"/>
                <a:cs typeface="DejaVu Sans"/>
              </a:rPr>
              <a:t>Mahal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7">
                <a:solidFill>
                  <a:srgbClr val="4b5563"/>
                </a:solidFill>
                <a:latin typeface="DejaVu Sans"/>
                <a:cs typeface="DejaVu Sans"/>
              </a:rPr>
              <a:t>Sumber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4b5563"/>
                </a:solidFill>
                <a:latin typeface="DejaVu Sans"/>
                <a:cs typeface="DejaVu Sans"/>
              </a:rPr>
              <a:t>Daya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4b5563"/>
                </a:solidFill>
                <a:latin typeface="DejaVu Sans"/>
                <a:cs typeface="DejaVu Sans"/>
              </a:rPr>
              <a:t>Ekstensif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&amp;</a:t>
            </a:r>
            <a:r>
              <a:rPr dirty="0" sz="1200" spc="-27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33">
                <a:solidFill>
                  <a:srgbClr val="4b5563"/>
                </a:solidFill>
                <a:latin typeface="DejaVu Sans"/>
                <a:cs typeface="DejaVu Sans"/>
              </a:rPr>
              <a:t>Fitur</a:t>
            </a:r>
            <a:r>
              <a:rPr dirty="0" sz="1200" spc="15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4b5563"/>
                </a:solidFill>
                <a:latin typeface="DejaVu Sans"/>
                <a:cs typeface="DejaVu Sans"/>
              </a:rPr>
              <a:t>Berlebihan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7991475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31626" y="334315"/>
            <a:ext cx="11080943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0" b="1">
                <a:solidFill>
                  <a:srgbClr val="343a40"/>
                </a:solidFill>
                <a:latin typeface="DejaVu Sans"/>
                <a:cs typeface="DejaVu Sans"/>
              </a:rPr>
              <a:t>Fitur</a:t>
            </a:r>
            <a:r>
              <a:rPr dirty="0" sz="405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4050" spc="-14" b="1">
                <a:solidFill>
                  <a:srgbClr val="343a40"/>
                </a:solidFill>
                <a:latin typeface="DejaVu Sans"/>
                <a:cs typeface="DejaVu Sans"/>
              </a:rPr>
              <a:t>Utama</a:t>
            </a:r>
            <a:r>
              <a:rPr dirty="0" sz="405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4050" spc="-163" b="1">
                <a:solidFill>
                  <a:srgbClr val="2c5f7f"/>
                </a:solidFill>
                <a:latin typeface="DejaVu Sans"/>
                <a:cs typeface="DejaVu Sans"/>
              </a:rPr>
              <a:t>AT</a:t>
            </a:r>
            <a:r>
              <a:rPr dirty="0" sz="4050" spc="-1422" b="1">
                <a:solidFill>
                  <a:srgbClr val="2c5f7f"/>
                </a:solidFill>
                <a:latin typeface="DejaVu Sans"/>
                <a:cs typeface="DejaVu Sans"/>
              </a:rPr>
              <a:t> </a:t>
            </a:r>
            <a:r>
              <a:rPr dirty="0" sz="4050" b="1">
                <a:solidFill>
                  <a:srgbClr val="2c5f7f"/>
                </a:solidFill>
                <a:latin typeface="DejaVu Sans"/>
                <a:cs typeface="DejaVu Sans"/>
              </a:rPr>
              <a:t>I</a:t>
            </a:r>
            <a:r>
              <a:rPr dirty="0" sz="4050" spc="-14" b="1">
                <a:solidFill>
                  <a:srgbClr val="2c5f7f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2c5f7f"/>
                </a:solidFill>
                <a:latin typeface="DejaVu Sans"/>
                <a:cs typeface="DejaVu Sans"/>
              </a:rPr>
              <a:t>Backup</a:t>
            </a:r>
            <a:r>
              <a:rPr dirty="0" sz="4050" b="1">
                <a:solidFill>
                  <a:srgbClr val="2c5f7f"/>
                </a:solidFill>
                <a:latin typeface="DejaVu Sans"/>
                <a:cs typeface="DejaVu Sans"/>
              </a:rPr>
              <a:t> </a:t>
            </a:r>
            <a:r>
              <a:rPr dirty="0" sz="4050" spc="-11" b="1">
                <a:solidFill>
                  <a:srgbClr val="2c5f7f"/>
                </a:solidFill>
                <a:latin typeface="DejaVu Sans"/>
                <a:cs typeface="DejaVu Sans"/>
              </a:rPr>
              <a:t>Conﬁguration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11686" y="848665"/>
            <a:ext cx="3921620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14" b="1">
                <a:solidFill>
                  <a:srgbClr val="2c5f7f"/>
                </a:solidFill>
                <a:latin typeface="DejaVu Sans"/>
                <a:cs typeface="DejaVu Sans"/>
              </a:rPr>
              <a:t>Management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59606" y="2088708"/>
            <a:ext cx="2861995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Dukungan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Multi-Protokol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234606" y="2088708"/>
            <a:ext cx="2586960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Penjadwalan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Otomatis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1512" y="2414068"/>
            <a:ext cx="2838296" cy="4310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adb5bd"/>
                </a:solidFill>
                <a:latin typeface="DejaVu Sans"/>
                <a:cs typeface="DejaVu Sans"/>
              </a:rPr>
              <a:t>Kompatibilitas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adb5bd"/>
                </a:solidFill>
                <a:latin typeface="DejaVu Sans"/>
                <a:cs typeface="DejaVu Sans"/>
              </a:rPr>
              <a:t>luas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adb5bd"/>
                </a:solidFill>
                <a:latin typeface="DejaVu Sans"/>
                <a:cs typeface="DejaVu Sans"/>
              </a:rPr>
              <a:t>melalui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adb5bd"/>
                </a:solidFill>
                <a:latin typeface="DejaVu Sans"/>
                <a:cs typeface="DejaVu Sans"/>
              </a:rPr>
              <a:t>SSH</a:t>
            </a:r>
            <a:r>
              <a:rPr dirty="0" sz="1200" spc="-1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adb5bd"/>
                </a:solidFill>
                <a:latin typeface="DejaVu Sans"/>
                <a:cs typeface="DejaVu Sans"/>
              </a:rPr>
              <a:t>dan</a:t>
            </a:r>
          </a:p>
          <a:p>
            <a:pPr marL="109716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40">
                <a:solidFill>
                  <a:srgbClr val="adb5bd"/>
                </a:solidFill>
                <a:latin typeface="DejaVu Sans"/>
                <a:cs typeface="DejaVu Sans"/>
              </a:rPr>
              <a:t>Telnet.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112716" y="2414068"/>
            <a:ext cx="2830789" cy="4310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adb5bd"/>
                </a:solidFill>
                <a:latin typeface="DejaVu Sans"/>
                <a:cs typeface="DejaVu Sans"/>
              </a:rPr>
              <a:t>Opsi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adb5bd"/>
                </a:solidFill>
                <a:latin typeface="DejaVu Sans"/>
                <a:cs typeface="DejaVu Sans"/>
              </a:rPr>
              <a:t>interval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adb5bd"/>
                </a:solidFill>
                <a:latin typeface="DejaVu Sans"/>
                <a:cs typeface="DejaVu Sans"/>
              </a:rPr>
              <a:t>ﬂeksibel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adb5bd"/>
                </a:solidFill>
                <a:latin typeface="DejaVu Sans"/>
                <a:cs typeface="DejaVu Sans"/>
              </a:rPr>
              <a:t>untuk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21">
                <a:solidFill>
                  <a:srgbClr val="adb5bd"/>
                </a:solidFill>
                <a:latin typeface="DejaVu Sans"/>
                <a:cs typeface="DejaVu Sans"/>
              </a:rPr>
              <a:t>backup</a:t>
            </a:r>
          </a:p>
          <a:p>
            <a:pPr marL="656183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4">
                <a:solidFill>
                  <a:srgbClr val="adb5bd"/>
                </a:solidFill>
                <a:latin typeface="DejaVu Sans"/>
                <a:cs typeface="DejaVu Sans"/>
              </a:rPr>
              <a:t>sesuai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adb5bd"/>
                </a:solidFill>
                <a:latin typeface="DejaVu Sans"/>
                <a:cs typeface="DejaVu Sans"/>
              </a:rPr>
              <a:t>kebutuhan.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26715" y="3688908"/>
            <a:ext cx="2927911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Enkripsi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Kredensial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spc="10" b="1">
                <a:solidFill>
                  <a:srgbClr val="343a40"/>
                </a:solidFill>
                <a:latin typeface="DejaVu Sans"/>
                <a:cs typeface="DejaVu Sans"/>
              </a:rPr>
              <a:t>Aman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044701" y="3688908"/>
            <a:ext cx="2966801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Perbandingan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Konﬁgurasi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31949" y="4014268"/>
            <a:ext cx="2517210" cy="4215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adb5bd"/>
                </a:solidFill>
                <a:latin typeface="DejaVu Sans"/>
                <a:cs typeface="DejaVu Sans"/>
              </a:rPr>
              <a:t>Data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adb5bd"/>
                </a:solidFill>
                <a:latin typeface="DejaVu Sans"/>
                <a:cs typeface="DejaVu Sans"/>
              </a:rPr>
              <a:t>dilindungi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adb5bd"/>
                </a:solidFill>
                <a:latin typeface="DejaVu Sans"/>
                <a:cs typeface="DejaVu Sans"/>
              </a:rPr>
              <a:t>dengan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adb5bd"/>
                </a:solidFill>
                <a:latin typeface="DejaVu Sans"/>
                <a:cs typeface="DejaVu Sans"/>
              </a:rPr>
              <a:t>standar</a:t>
            </a:r>
          </a:p>
          <a:p>
            <a:pPr marL="581917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20">
                <a:solidFill>
                  <a:srgbClr val="adb5bd"/>
                </a:solidFill>
                <a:latin typeface="DejaVu Sans"/>
                <a:cs typeface="DejaVu Sans"/>
              </a:rPr>
              <a:t>Fernet/AES-128.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276724" y="4014268"/>
            <a:ext cx="2502704" cy="4215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adb5bd"/>
                </a:solidFill>
                <a:latin typeface="DejaVu Sans"/>
                <a:cs typeface="DejaVu Sans"/>
              </a:rPr>
              <a:t>Deteksi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adb5bd"/>
                </a:solidFill>
                <a:latin typeface="DejaVu Sans"/>
                <a:cs typeface="DejaVu Sans"/>
              </a:rPr>
              <a:t>perubahan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adb5bd"/>
                </a:solidFill>
                <a:latin typeface="DejaVu Sans"/>
                <a:cs typeface="DejaVu Sans"/>
              </a:rPr>
              <a:t>dan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adb5bd"/>
                </a:solidFill>
                <a:latin typeface="DejaVu Sans"/>
                <a:cs typeface="DejaVu Sans"/>
              </a:rPr>
              <a:t>riwayat</a:t>
            </a:r>
          </a:p>
          <a:p>
            <a:pPr marL="670768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7">
                <a:solidFill>
                  <a:srgbClr val="adb5bd"/>
                </a:solidFill>
                <a:latin typeface="DejaVu Sans"/>
                <a:cs typeface="DejaVu Sans"/>
              </a:rPr>
              <a:t>lengkap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adb5bd"/>
                </a:solidFill>
                <a:latin typeface="DejaVu Sans"/>
                <a:cs typeface="DejaVu Sans"/>
              </a:rPr>
              <a:t>'diﬀ'.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38522" y="5279583"/>
            <a:ext cx="2104167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Kebijakan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Retensi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448323" y="5279583"/>
            <a:ext cx="2159477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Integrasi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Fleksibel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82215" y="5604943"/>
            <a:ext cx="3016844" cy="4215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0">
                <a:solidFill>
                  <a:srgbClr val="adb5bd"/>
                </a:solidFill>
                <a:latin typeface="DejaVu Sans"/>
                <a:cs typeface="DejaVu Sans"/>
              </a:rPr>
              <a:t>Konﬁgurasi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adb5bd"/>
                </a:solidFill>
                <a:latin typeface="DejaVu Sans"/>
                <a:cs typeface="DejaVu Sans"/>
              </a:rPr>
              <a:t>tersimpan</a:t>
            </a:r>
            <a:r>
              <a:rPr dirty="0" sz="1200" spc="-1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adb5bd"/>
                </a:solidFill>
                <a:latin typeface="DejaVu Sans"/>
                <a:cs typeface="DejaVu Sans"/>
              </a:rPr>
              <a:t>hingga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adb5bd"/>
                </a:solidFill>
                <a:latin typeface="DejaVu Sans"/>
                <a:cs typeface="DejaVu Sans"/>
              </a:rPr>
              <a:t>365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adb5bd"/>
                </a:solidFill>
                <a:latin typeface="DejaVu Sans"/>
                <a:cs typeface="DejaVu Sans"/>
              </a:rPr>
              <a:t>hari</a:t>
            </a:r>
          </a:p>
          <a:p>
            <a:pPr marL="979884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4">
                <a:solidFill>
                  <a:srgbClr val="adb5bd"/>
                </a:solidFill>
                <a:latin typeface="DejaVu Sans"/>
                <a:cs typeface="DejaVu Sans"/>
              </a:rPr>
              <a:t>untuk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adb5bd"/>
                </a:solidFill>
                <a:latin typeface="DejaVu Sans"/>
                <a:cs typeface="DejaVu Sans"/>
              </a:rPr>
              <a:t>audit.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171800" y="5604943"/>
            <a:ext cx="2712491" cy="42150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1">
                <a:solidFill>
                  <a:srgbClr val="adb5bd"/>
                </a:solidFill>
                <a:latin typeface="DejaVu Sans"/>
                <a:cs typeface="DejaVu Sans"/>
              </a:rPr>
              <a:t>Berjalan</a:t>
            </a:r>
            <a:r>
              <a:rPr dirty="0" sz="1200" spc="-1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adb5bd"/>
                </a:solidFill>
                <a:latin typeface="DejaVu Sans"/>
                <a:cs typeface="DejaVu Sans"/>
              </a:rPr>
              <a:t>sebagai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adb5bd"/>
                </a:solidFill>
                <a:latin typeface="DejaVu Sans"/>
                <a:cs typeface="DejaVu Sans"/>
              </a:rPr>
              <a:t>Windows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adb5bd"/>
                </a:solidFill>
                <a:latin typeface="DejaVu Sans"/>
                <a:cs typeface="DejaVu Sans"/>
              </a:rPr>
              <a:t>Service</a:t>
            </a:r>
          </a:p>
          <a:p>
            <a:pPr marL="223837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2">
                <a:solidFill>
                  <a:srgbClr val="adb5bd"/>
                </a:solidFill>
                <a:latin typeface="DejaVu Sans"/>
                <a:cs typeface="DejaVu Sans"/>
              </a:rPr>
              <a:t>atau</a:t>
            </a:r>
            <a:r>
              <a:rPr dirty="0" sz="1200" spc="-1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adb5bd"/>
                </a:solidFill>
                <a:latin typeface="DejaVu Sans"/>
                <a:cs typeface="DejaVu Sans"/>
              </a:rPr>
              <a:t>aplikasi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adb5bd"/>
                </a:solidFill>
                <a:latin typeface="DejaVu Sans"/>
                <a:cs typeface="DejaVu Sans"/>
              </a:rPr>
              <a:t>Portable</a:t>
            </a:r>
            <a:r>
              <a:rPr dirty="0" sz="1200">
                <a:solidFill>
                  <a:srgbClr val="adb5bd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adb5bd"/>
                </a:solidFill>
                <a:latin typeface="DejaVu Sans"/>
                <a:cs typeface="DejaVu Sans"/>
              </a:rPr>
              <a:t>(EXE).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790848" y="6907604"/>
            <a:ext cx="972085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 b="1">
                <a:solidFill>
                  <a:srgbClr val="343a40"/>
                </a:solidFill>
                <a:latin typeface="DejaVu Sans"/>
                <a:cs typeface="DejaVu Sans"/>
              </a:rPr>
              <a:t>Simple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5489822" y="6907604"/>
            <a:ext cx="1364843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0" b="1">
                <a:solidFill>
                  <a:srgbClr val="343a40"/>
                </a:solidFill>
                <a:latin typeface="DejaVu Sans"/>
                <a:cs typeface="DejaVu Sans"/>
              </a:rPr>
              <a:t>Reliability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9108429" y="6907604"/>
            <a:ext cx="1918558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12" b="1">
                <a:solidFill>
                  <a:srgbClr val="343a40"/>
                </a:solidFill>
                <a:latin typeface="DejaVu Sans"/>
                <a:cs typeface="DejaVu Sans"/>
              </a:rPr>
              <a:t>Cost-Eﬃciency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0459937" y="7748822"/>
            <a:ext cx="145764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Image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Source: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9ca3af"/>
                </a:solidFill>
                <a:latin typeface="DejaVu Sans"/>
                <a:cs typeface="DejaVu Sans"/>
              </a:rPr>
              <a:t>Cisco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107442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13842" y="357892"/>
            <a:ext cx="9916507" cy="485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dirty="0" sz="3000" spc="14" b="1">
                <a:solidFill>
                  <a:srgbClr val="2c5f7f"/>
                </a:solidFill>
                <a:latin typeface="DejaVu Sans"/>
                <a:cs typeface="DejaVu Sans"/>
              </a:rPr>
              <a:t>Arsitektur</a:t>
            </a:r>
            <a:r>
              <a:rPr dirty="0" sz="3000" b="1">
                <a:solidFill>
                  <a:srgbClr val="2c5f7f"/>
                </a:solidFill>
                <a:latin typeface="DejaVu Sans"/>
                <a:cs typeface="DejaVu Sans"/>
              </a:rPr>
              <a:t> </a:t>
            </a:r>
            <a:r>
              <a:rPr dirty="0" sz="3000" spc="12" b="1">
                <a:solidFill>
                  <a:srgbClr val="2c5f7f"/>
                </a:solidFill>
                <a:latin typeface="DejaVu Sans"/>
                <a:cs typeface="DejaVu Sans"/>
              </a:rPr>
              <a:t>Sistem</a:t>
            </a:r>
            <a:r>
              <a:rPr dirty="0" sz="3000" spc="20" b="1">
                <a:solidFill>
                  <a:srgbClr val="2c5f7f"/>
                </a:solidFill>
                <a:latin typeface="DejaVu Sans"/>
                <a:cs typeface="DejaVu Sans"/>
              </a:rPr>
              <a:t> </a:t>
            </a:r>
            <a:r>
              <a:rPr dirty="0" sz="3000" b="1">
                <a:solidFill>
                  <a:srgbClr val="343a40"/>
                </a:solidFill>
                <a:latin typeface="DejaVu Sans"/>
                <a:cs typeface="DejaVu Sans"/>
              </a:rPr>
              <a:t>&amp;</a:t>
            </a:r>
            <a:r>
              <a:rPr dirty="0" sz="3000" spc="28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3000" spc="14" b="1">
                <a:solidFill>
                  <a:srgbClr val="5cb85c"/>
                </a:solidFill>
                <a:latin typeface="DejaVu Sans"/>
                <a:cs typeface="DejaVu Sans"/>
              </a:rPr>
              <a:t>Struktur</a:t>
            </a:r>
            <a:r>
              <a:rPr dirty="0" sz="3000" b="1">
                <a:solidFill>
                  <a:srgbClr val="5cb85c"/>
                </a:solidFill>
                <a:latin typeface="DejaVu Sans"/>
                <a:cs typeface="DejaVu Sans"/>
              </a:rPr>
              <a:t> </a:t>
            </a:r>
            <a:r>
              <a:rPr dirty="0" sz="3000" spc="15" b="1">
                <a:solidFill>
                  <a:srgbClr val="5cb85c"/>
                </a:solidFill>
                <a:latin typeface="DejaVu Sans"/>
                <a:cs typeface="DejaVu Sans"/>
              </a:rPr>
              <a:t>Proyek</a:t>
            </a:r>
            <a:r>
              <a:rPr dirty="0" sz="3000" b="1">
                <a:solidFill>
                  <a:srgbClr val="5cb85c"/>
                </a:solidFill>
                <a:latin typeface="DejaVu Sans"/>
                <a:cs typeface="DejaVu Sans"/>
              </a:rPr>
              <a:t> </a:t>
            </a:r>
            <a:r>
              <a:rPr dirty="0" sz="3000" spc="-67" b="1">
                <a:solidFill>
                  <a:srgbClr val="5cb85c"/>
                </a:solidFill>
                <a:latin typeface="DejaVu Sans"/>
                <a:cs typeface="DejaVu Sans"/>
              </a:rPr>
              <a:t>ATI</a:t>
            </a:r>
            <a:r>
              <a:rPr dirty="0" sz="3000" spc="83" b="1">
                <a:solidFill>
                  <a:srgbClr val="5cb85c"/>
                </a:solidFill>
                <a:latin typeface="DejaVu Sans"/>
                <a:cs typeface="DejaVu Sans"/>
              </a:rPr>
              <a:t> </a:t>
            </a:r>
            <a:r>
              <a:rPr dirty="0" sz="3000" spc="18" b="1">
                <a:solidFill>
                  <a:srgbClr val="5cb85c"/>
                </a:solidFill>
                <a:latin typeface="DejaVu Sans"/>
                <a:cs typeface="DejaVu Sans"/>
              </a:rPr>
              <a:t>BCM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41004" y="916379"/>
            <a:ext cx="6262289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21">
                <a:solidFill>
                  <a:srgbClr val="343a40"/>
                </a:solidFill>
                <a:latin typeface="DejaVu Sans"/>
                <a:cs typeface="DejaVu Sans"/>
              </a:rPr>
              <a:t>Fondasi</a:t>
            </a:r>
            <a:r>
              <a:rPr dirty="0" sz="1700" spc="1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343a40"/>
                </a:solidFill>
                <a:latin typeface="DejaVu Sans"/>
                <a:cs typeface="DejaVu Sans"/>
              </a:rPr>
              <a:t>Eﬁsien</a:t>
            </a:r>
            <a:r>
              <a:rPr dirty="0" sz="170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343a40"/>
                </a:solidFill>
                <a:latin typeface="DejaVu Sans"/>
                <a:cs typeface="DejaVu Sans"/>
              </a:rPr>
              <a:t>untuk</a:t>
            </a:r>
            <a:r>
              <a:rPr dirty="0" sz="170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343a40"/>
                </a:solidFill>
                <a:latin typeface="DejaVu Sans"/>
                <a:cs typeface="DejaVu Sans"/>
              </a:rPr>
              <a:t>Manajemen</a:t>
            </a:r>
            <a:r>
              <a:rPr dirty="0" sz="170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700" spc="-21">
                <a:solidFill>
                  <a:srgbClr val="343a40"/>
                </a:solidFill>
                <a:latin typeface="DejaVu Sans"/>
                <a:cs typeface="DejaVu Sans"/>
              </a:rPr>
              <a:t>Konﬁgurasi</a:t>
            </a:r>
            <a:r>
              <a:rPr dirty="0" sz="170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343a40"/>
                </a:solidFill>
                <a:latin typeface="DejaVu Sans"/>
                <a:cs typeface="DejaVu Sans"/>
              </a:rPr>
              <a:t>yang</a:t>
            </a:r>
            <a:r>
              <a:rPr dirty="0" sz="1700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343a40"/>
                </a:solidFill>
                <a:latin typeface="DejaVu Sans"/>
                <a:cs typeface="DejaVu Sans"/>
              </a:rPr>
              <a:t>Andal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51556" y="1564833"/>
            <a:ext cx="2998112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Komponen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Utama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Aplikasi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94548" y="1564833"/>
            <a:ext cx="3514657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Manajemen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Penyimpanan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Data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683966" y="1975918"/>
            <a:ext cx="82732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 b="1">
                <a:solidFill>
                  <a:srgbClr val="000000"/>
                </a:solidFill>
                <a:latin typeface="DejaVu Sans"/>
                <a:cs typeface="DejaVu Sans"/>
              </a:rPr>
              <a:t>main.py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683966" y="2262422"/>
            <a:ext cx="3185351" cy="35856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4b5563"/>
                </a:solidFill>
                <a:latin typeface="DejaVu Sans"/>
                <a:cs typeface="DejaVu Sans"/>
              </a:rPr>
              <a:t>Logika</a:t>
            </a:r>
            <a:r>
              <a:rPr dirty="0" sz="1000" spc="1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4b5563"/>
                </a:solidFill>
                <a:latin typeface="DejaVu Sans"/>
                <a:cs typeface="DejaVu Sans"/>
              </a:rPr>
              <a:t>inti</a:t>
            </a:r>
            <a:r>
              <a:rPr dirty="0" sz="10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4b5563"/>
                </a:solidFill>
                <a:latin typeface="DejaVu Sans"/>
                <a:cs typeface="DejaVu Sans"/>
              </a:rPr>
              <a:t>aplikasi,</a:t>
            </a:r>
            <a:r>
              <a:rPr dirty="0" sz="10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4b5563"/>
                </a:solidFill>
                <a:latin typeface="DejaVu Sans"/>
                <a:cs typeface="DejaVu Sans"/>
              </a:rPr>
              <a:t>mengelola</a:t>
            </a:r>
            <a:r>
              <a:rPr dirty="0" sz="10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4b5563"/>
                </a:solidFill>
                <a:latin typeface="DejaVu Sans"/>
                <a:cs typeface="DejaVu Sans"/>
              </a:rPr>
              <a:t>alur</a:t>
            </a:r>
            <a:r>
              <a:rPr dirty="0" sz="10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4b5563"/>
                </a:solidFill>
                <a:latin typeface="DejaVu Sans"/>
                <a:cs typeface="DejaVu Sans"/>
              </a:rPr>
              <a:t>kerja</a:t>
            </a:r>
            <a:r>
              <a:rPr dirty="0" sz="1000" spc="12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4b5563"/>
                </a:solidFill>
                <a:latin typeface="DejaVu Sans"/>
                <a:cs typeface="DejaVu Sans"/>
              </a:rPr>
              <a:t>utama</a:t>
            </a:r>
          </a:p>
          <a:p>
            <a:pPr marL="0" marR="0">
              <a:lnSpc>
                <a:spcPts val="1173"/>
              </a:lnSpc>
              <a:spcBef>
                <a:spcPts val="126"/>
              </a:spcBef>
              <a:spcAft>
                <a:spcPts val="0"/>
              </a:spcAft>
            </a:pPr>
            <a:r>
              <a:rPr dirty="0" sz="1000">
                <a:solidFill>
                  <a:srgbClr val="4b5563"/>
                </a:solidFill>
                <a:latin typeface="DejaVu Sans"/>
                <a:cs typeface="DejaVu Sans"/>
              </a:rPr>
              <a:t>&amp;</a:t>
            </a:r>
            <a:r>
              <a:rPr dirty="0" sz="10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4b5563"/>
                </a:solidFill>
                <a:latin typeface="DejaVu Sans"/>
                <a:cs typeface="DejaVu Sans"/>
              </a:rPr>
              <a:t>orkestrasi</a:t>
            </a:r>
            <a:r>
              <a:rPr dirty="0" sz="10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4b5563"/>
                </a:solidFill>
                <a:latin typeface="DejaVu Sans"/>
                <a:cs typeface="DejaVu Sans"/>
              </a:rPr>
              <a:t>tugas.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683966" y="2699818"/>
            <a:ext cx="182218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 b="1">
                <a:solidFill>
                  <a:srgbClr val="000000"/>
                </a:solidFill>
                <a:latin typeface="DejaVu Sans"/>
                <a:cs typeface="DejaVu Sans"/>
              </a:rPr>
              <a:t>windows_service.py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683966" y="2986322"/>
            <a:ext cx="2920369" cy="5300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>
                <a:solidFill>
                  <a:srgbClr val="4b5563"/>
                </a:solidFill>
                <a:latin typeface="DejaVu Sans"/>
                <a:cs typeface="DejaVu Sans"/>
              </a:rPr>
              <a:t>Layanan</a:t>
            </a:r>
            <a:r>
              <a:rPr dirty="0" sz="10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4b5563"/>
                </a:solidFill>
                <a:latin typeface="DejaVu Sans"/>
                <a:cs typeface="DejaVu Sans"/>
              </a:rPr>
              <a:t>latar</a:t>
            </a:r>
            <a:r>
              <a:rPr dirty="0" sz="10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4b5563"/>
                </a:solidFill>
                <a:latin typeface="DejaVu Sans"/>
                <a:cs typeface="DejaVu Sans"/>
              </a:rPr>
              <a:t>belakang</a:t>
            </a:r>
            <a:r>
              <a:rPr dirty="0" sz="10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4b5563"/>
                </a:solidFill>
                <a:latin typeface="DejaVu Sans"/>
                <a:cs typeface="DejaVu Sans"/>
              </a:rPr>
              <a:t>stabil,</a:t>
            </a:r>
            <a:r>
              <a:rPr dirty="0" sz="10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4b5563"/>
                </a:solidFill>
                <a:latin typeface="DejaVu Sans"/>
                <a:cs typeface="DejaVu Sans"/>
              </a:rPr>
              <a:t>memastikan</a:t>
            </a:r>
          </a:p>
          <a:p>
            <a:pPr marL="0" marR="0">
              <a:lnSpc>
                <a:spcPts val="1173"/>
              </a:lnSpc>
              <a:spcBef>
                <a:spcPts val="126"/>
              </a:spcBef>
              <a:spcAft>
                <a:spcPts val="0"/>
              </a:spcAft>
            </a:pPr>
            <a:r>
              <a:rPr dirty="0" sz="1000">
                <a:solidFill>
                  <a:srgbClr val="4b5563"/>
                </a:solidFill>
                <a:latin typeface="DejaVu Sans"/>
                <a:cs typeface="DejaVu Sans"/>
              </a:rPr>
              <a:t>operasi</a:t>
            </a:r>
            <a:r>
              <a:rPr dirty="0" sz="10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4b5563"/>
                </a:solidFill>
                <a:latin typeface="DejaVu Sans"/>
                <a:cs typeface="DejaVu Sans"/>
              </a:rPr>
              <a:t>berkelanjutan</a:t>
            </a:r>
            <a:r>
              <a:rPr dirty="0" sz="10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4b5563"/>
                </a:solidFill>
                <a:latin typeface="DejaVu Sans"/>
                <a:cs typeface="DejaVu Sans"/>
              </a:rPr>
              <a:t>sebagai</a:t>
            </a:r>
            <a:r>
              <a:rPr dirty="0" sz="10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000">
                <a:solidFill>
                  <a:srgbClr val="4b5563"/>
                </a:solidFill>
                <a:latin typeface="DejaVu Sans"/>
                <a:cs typeface="DejaVu Sans"/>
              </a:rPr>
              <a:t>layanan</a:t>
            </a:r>
          </a:p>
          <a:p>
            <a:pPr marL="0" marR="0">
              <a:lnSpc>
                <a:spcPts val="1173"/>
              </a:lnSpc>
              <a:spcBef>
                <a:spcPts val="176"/>
              </a:spcBef>
              <a:spcAft>
                <a:spcPts val="0"/>
              </a:spcAft>
            </a:pPr>
            <a:r>
              <a:rPr dirty="0" sz="1000">
                <a:solidFill>
                  <a:srgbClr val="4b5563"/>
                </a:solidFill>
                <a:latin typeface="DejaVu Sans"/>
                <a:cs typeface="DejaVu Sans"/>
              </a:rPr>
              <a:t>Windows.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551556" y="4127058"/>
            <a:ext cx="2741356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Struktur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Direktori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Kritis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603205" y="4233343"/>
            <a:ext cx="4344172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 b="1">
                <a:solidFill>
                  <a:srgbClr val="374151"/>
                </a:solidFill>
                <a:latin typeface="DejaVu Sans"/>
                <a:cs typeface="DejaVu Sans"/>
              </a:rPr>
              <a:t>Backup</a:t>
            </a:r>
            <a:r>
              <a:rPr dirty="0" sz="1200" b="1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200" spc="-15" b="1">
                <a:solidFill>
                  <a:srgbClr val="374151"/>
                </a:solidFill>
                <a:latin typeface="DejaVu Sans"/>
                <a:cs typeface="DejaVu Sans"/>
              </a:rPr>
              <a:t>Data:</a:t>
            </a:r>
            <a:r>
              <a:rPr dirty="0" sz="1200" spc="-37" b="1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374151"/>
                </a:solidFill>
                <a:latin typeface="DejaVu Sans"/>
                <a:cs typeface="DejaVu Sans"/>
              </a:rPr>
              <a:t>Salinan</a:t>
            </a:r>
            <a:r>
              <a:rPr dirty="0" sz="1200" spc="-1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374151"/>
                </a:solidFill>
                <a:latin typeface="DejaVu Sans"/>
                <a:cs typeface="DejaVu Sans"/>
              </a:rPr>
              <a:t>konﬁgurasi</a:t>
            </a:r>
            <a:r>
              <a:rPr dirty="0" sz="12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374151"/>
                </a:solidFill>
                <a:latin typeface="DejaVu Sans"/>
                <a:cs typeface="DejaVu Sans"/>
              </a:rPr>
              <a:t>historis</a:t>
            </a:r>
            <a:r>
              <a:rPr dirty="0" sz="1200" spc="-1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374151"/>
                </a:solidFill>
                <a:latin typeface="DejaVu Sans"/>
                <a:cs typeface="DejaVu Sans"/>
              </a:rPr>
              <a:t>&amp;</a:t>
            </a:r>
            <a:r>
              <a:rPr dirty="0" sz="1200" spc="-27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374151"/>
                </a:solidFill>
                <a:latin typeface="DejaVu Sans"/>
                <a:cs typeface="DejaVu Sans"/>
              </a:rPr>
              <a:t>vital</a:t>
            </a:r>
            <a:r>
              <a:rPr dirty="0" sz="12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374151"/>
                </a:solidFill>
                <a:latin typeface="DejaVu Sans"/>
                <a:cs typeface="DejaVu Sans"/>
              </a:rPr>
              <a:t>untuk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603205" y="4452418"/>
            <a:ext cx="990535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374151"/>
                </a:solidFill>
                <a:latin typeface="DejaVu Sans"/>
                <a:cs typeface="DejaVu Sans"/>
              </a:rPr>
              <a:t>pemulihan.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784574" y="4528618"/>
            <a:ext cx="2781740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 b="1">
                <a:solidFill>
                  <a:srgbClr val="000000"/>
                </a:solidFill>
                <a:latin typeface="DejaVu Sans"/>
                <a:cs typeface="DejaVu Sans"/>
              </a:rPr>
              <a:t>Konﬁgurasi:</a:t>
            </a:r>
            <a:r>
              <a:rPr dirty="0" sz="1200" spc="81" b="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200" spc="-18">
                <a:solidFill>
                  <a:srgbClr val="000000"/>
                </a:solidFill>
                <a:latin typeface="DejaVu Sans"/>
                <a:cs typeface="DejaVu Sans"/>
              </a:rPr>
              <a:t>Pengaturan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00000"/>
                </a:solidFill>
                <a:latin typeface="DejaVu Sans"/>
                <a:cs typeface="DejaVu Sans"/>
              </a:rPr>
              <a:t>sistem</a:t>
            </a:r>
            <a:r>
              <a:rPr dirty="0" sz="1200" spc="-2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&amp;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784574" y="4747693"/>
            <a:ext cx="988348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5">
                <a:solidFill>
                  <a:srgbClr val="000000"/>
                </a:solidFill>
                <a:latin typeface="DejaVu Sans"/>
                <a:cs typeface="DejaVu Sans"/>
              </a:rPr>
              <a:t>parameter.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603205" y="4747693"/>
            <a:ext cx="4674930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 b="1">
                <a:solidFill>
                  <a:srgbClr val="374151"/>
                </a:solidFill>
                <a:latin typeface="DejaVu Sans"/>
                <a:cs typeface="DejaVu Sans"/>
              </a:rPr>
              <a:t>Log</a:t>
            </a:r>
            <a:r>
              <a:rPr dirty="0" sz="1200" spc="-10" b="1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200" spc="-15" b="1">
                <a:solidFill>
                  <a:srgbClr val="374151"/>
                </a:solidFill>
                <a:latin typeface="DejaVu Sans"/>
                <a:cs typeface="DejaVu Sans"/>
              </a:rPr>
              <a:t>Sistem:</a:t>
            </a:r>
            <a:r>
              <a:rPr dirty="0" sz="1200" spc="-37" b="1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374151"/>
                </a:solidFill>
                <a:latin typeface="DejaVu Sans"/>
                <a:cs typeface="DejaVu Sans"/>
              </a:rPr>
              <a:t>Catatan</a:t>
            </a:r>
            <a:r>
              <a:rPr dirty="0" sz="1200" spc="-1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374151"/>
                </a:solidFill>
                <a:latin typeface="DejaVu Sans"/>
                <a:cs typeface="DejaVu Sans"/>
              </a:rPr>
              <a:t>detail</a:t>
            </a:r>
            <a:r>
              <a:rPr dirty="0" sz="12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374151"/>
                </a:solidFill>
                <a:latin typeface="DejaVu Sans"/>
                <a:cs typeface="DejaVu Sans"/>
              </a:rPr>
              <a:t>aktivitas,</a:t>
            </a:r>
            <a:r>
              <a:rPr dirty="0" sz="12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374151"/>
                </a:solidFill>
                <a:latin typeface="DejaVu Sans"/>
                <a:cs typeface="DejaVu Sans"/>
              </a:rPr>
              <a:t>kesalahan</a:t>
            </a:r>
            <a:r>
              <a:rPr dirty="0" sz="12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374151"/>
                </a:solidFill>
                <a:latin typeface="DejaVu Sans"/>
                <a:cs typeface="DejaVu Sans"/>
              </a:rPr>
              <a:t>&amp;</a:t>
            </a:r>
            <a:r>
              <a:rPr dirty="0" sz="1200" spc="-27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374151"/>
                </a:solidFill>
                <a:latin typeface="DejaVu Sans"/>
                <a:cs typeface="DejaVu Sans"/>
              </a:rPr>
              <a:t>peristiwa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603205" y="4957243"/>
            <a:ext cx="692925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374151"/>
                </a:solidFill>
                <a:latin typeface="DejaVu Sans"/>
                <a:cs typeface="DejaVu Sans"/>
              </a:rPr>
              <a:t>sistem.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784574" y="5090593"/>
            <a:ext cx="294662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 b="1">
                <a:solidFill>
                  <a:srgbClr val="000000"/>
                </a:solidFill>
                <a:latin typeface="DejaVu Sans"/>
                <a:cs typeface="DejaVu Sans"/>
              </a:rPr>
              <a:t>Jaringan:</a:t>
            </a:r>
            <a:r>
              <a:rPr dirty="0" sz="1200" spc="79" b="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000000"/>
                </a:solidFill>
                <a:latin typeface="DejaVu Sans"/>
                <a:cs typeface="DejaVu Sans"/>
              </a:rPr>
              <a:t>Manajemen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00000"/>
                </a:solidFill>
                <a:latin typeface="DejaVu Sans"/>
                <a:cs typeface="DejaVu Sans"/>
              </a:rPr>
              <a:t>konektivitas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&amp;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603205" y="5262043"/>
            <a:ext cx="4550697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 b="1">
                <a:solidFill>
                  <a:srgbClr val="374151"/>
                </a:solidFill>
                <a:latin typeface="DejaVu Sans"/>
                <a:cs typeface="DejaVu Sans"/>
              </a:rPr>
              <a:t>Data</a:t>
            </a:r>
            <a:r>
              <a:rPr dirty="0" sz="1200" b="1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200" spc="-17" b="1">
                <a:solidFill>
                  <a:srgbClr val="374151"/>
                </a:solidFill>
                <a:latin typeface="DejaVu Sans"/>
                <a:cs typeface="DejaVu Sans"/>
              </a:rPr>
              <a:t>Runtime:</a:t>
            </a:r>
            <a:r>
              <a:rPr dirty="0" sz="1200" spc="-36" b="1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374151"/>
                </a:solidFill>
                <a:latin typeface="DejaVu Sans"/>
                <a:cs typeface="DejaVu Sans"/>
              </a:rPr>
              <a:t>Informasi</a:t>
            </a:r>
            <a:r>
              <a:rPr dirty="0" sz="12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374151"/>
                </a:solidFill>
                <a:latin typeface="DejaVu Sans"/>
                <a:cs typeface="DejaVu Sans"/>
              </a:rPr>
              <a:t>sementara</a:t>
            </a:r>
            <a:r>
              <a:rPr dirty="0" sz="12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374151"/>
                </a:solidFill>
                <a:latin typeface="DejaVu Sans"/>
                <a:cs typeface="DejaVu Sans"/>
              </a:rPr>
              <a:t>&amp;</a:t>
            </a:r>
            <a:r>
              <a:rPr dirty="0" sz="1200" spc="-27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374151"/>
                </a:solidFill>
                <a:latin typeface="DejaVu Sans"/>
                <a:cs typeface="DejaVu Sans"/>
              </a:rPr>
              <a:t>status</a:t>
            </a:r>
            <a:r>
              <a:rPr dirty="0" sz="12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374151"/>
                </a:solidFill>
                <a:latin typeface="DejaVu Sans"/>
                <a:cs typeface="DejaVu Sans"/>
              </a:rPr>
              <a:t>operasional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784574" y="5300143"/>
            <a:ext cx="816753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0">
                <a:solidFill>
                  <a:srgbClr val="000000"/>
                </a:solidFill>
                <a:latin typeface="DejaVu Sans"/>
                <a:cs typeface="DejaVu Sans"/>
              </a:rPr>
              <a:t>protokol.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603205" y="5471593"/>
            <a:ext cx="766507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374151"/>
                </a:solidFill>
                <a:latin typeface="DejaVu Sans"/>
                <a:cs typeface="DejaVu Sans"/>
              </a:rPr>
              <a:t>aplikasi.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784574" y="5643043"/>
            <a:ext cx="274566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1" b="1">
                <a:solidFill>
                  <a:srgbClr val="000000"/>
                </a:solidFill>
                <a:latin typeface="DejaVu Sans"/>
                <a:cs typeface="DejaVu Sans"/>
              </a:rPr>
              <a:t>Layanan:</a:t>
            </a:r>
            <a:r>
              <a:rPr dirty="0" sz="1200" spc="86" b="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1200" spc="-14">
                <a:solidFill>
                  <a:srgbClr val="000000"/>
                </a:solidFill>
                <a:latin typeface="DejaVu Sans"/>
                <a:cs typeface="DejaVu Sans"/>
              </a:rPr>
              <a:t>Deﬁnisi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&amp;</a:t>
            </a:r>
            <a:r>
              <a:rPr dirty="0" sz="1200" spc="-27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00000"/>
                </a:solidFill>
                <a:latin typeface="DejaVu Sans"/>
                <a:cs typeface="DejaVu Sans"/>
              </a:rPr>
              <a:t>implementasi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2784574" y="5852593"/>
            <a:ext cx="793636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000000"/>
                </a:solidFill>
                <a:latin typeface="DejaVu Sans"/>
                <a:cs typeface="DejaVu Sans"/>
              </a:rPr>
              <a:t>layanan.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547092" y="6547163"/>
            <a:ext cx="2860709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343a40"/>
                </a:solidFill>
                <a:latin typeface="DejaVu Sans"/>
                <a:cs typeface="DejaVu Sans"/>
              </a:rPr>
              <a:t>Alur</a:t>
            </a:r>
            <a:r>
              <a:rPr dirty="0" sz="135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350" spc="-10" b="1">
                <a:solidFill>
                  <a:srgbClr val="343a40"/>
                </a:solidFill>
                <a:latin typeface="DejaVu Sans"/>
                <a:cs typeface="DejaVu Sans"/>
              </a:rPr>
              <a:t>Kerja</a:t>
            </a:r>
            <a:r>
              <a:rPr dirty="0" sz="135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343a40"/>
                </a:solidFill>
                <a:latin typeface="DejaVu Sans"/>
                <a:cs typeface="DejaVu Sans"/>
              </a:rPr>
              <a:t>Arsitektur</a:t>
            </a:r>
            <a:r>
              <a:rPr dirty="0" sz="135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343a40"/>
                </a:solidFill>
                <a:latin typeface="DejaVu Sans"/>
                <a:cs typeface="DejaVu Sans"/>
              </a:rPr>
              <a:t>Sistem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4442370" y="6547163"/>
            <a:ext cx="2421402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343a40"/>
                </a:solidFill>
                <a:latin typeface="DejaVu Sans"/>
                <a:cs typeface="DejaVu Sans"/>
              </a:rPr>
              <a:t>Urutan</a:t>
            </a:r>
            <a:r>
              <a:rPr dirty="0" sz="135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343a40"/>
                </a:solidFill>
                <a:latin typeface="DejaVu Sans"/>
                <a:cs typeface="DejaVu Sans"/>
              </a:rPr>
              <a:t>Startup</a:t>
            </a:r>
            <a:r>
              <a:rPr dirty="0" sz="135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343a40"/>
                </a:solidFill>
                <a:latin typeface="DejaVu Sans"/>
                <a:cs typeface="DejaVu Sans"/>
              </a:rPr>
              <a:t>Aplikasi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8337648" y="6547163"/>
            <a:ext cx="2803684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 b="1">
                <a:solidFill>
                  <a:srgbClr val="343a40"/>
                </a:solidFill>
                <a:latin typeface="DejaVu Sans"/>
                <a:cs typeface="DejaVu Sans"/>
              </a:rPr>
              <a:t>Integrasi</a:t>
            </a:r>
            <a:r>
              <a:rPr dirty="0" sz="135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350" spc="-11" b="1">
                <a:solidFill>
                  <a:srgbClr val="343a40"/>
                </a:solidFill>
                <a:latin typeface="DejaVu Sans"/>
                <a:cs typeface="DejaVu Sans"/>
              </a:rPr>
              <a:t>Layanan</a:t>
            </a:r>
            <a:r>
              <a:rPr dirty="0" sz="135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350" b="1">
                <a:solidFill>
                  <a:srgbClr val="343a40"/>
                </a:solidFill>
                <a:latin typeface="DejaVu Sans"/>
                <a:cs typeface="DejaVu Sans"/>
              </a:rPr>
              <a:t>Windows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8381106" y="6947213"/>
            <a:ext cx="1779603" cy="23679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dirty="0" sz="1350">
                <a:solidFill>
                  <a:srgbClr val="000000"/>
                </a:solidFill>
                <a:latin typeface="DejaVu Sans"/>
                <a:cs typeface="DejaVu Sans"/>
              </a:rPr>
              <a:t>System</a:t>
            </a:r>
            <a:r>
              <a:rPr dirty="0" sz="135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350">
                <a:solidFill>
                  <a:srgbClr val="000000"/>
                </a:solidFill>
                <a:latin typeface="DejaVu Sans"/>
                <a:cs typeface="DejaVu Sans"/>
              </a:rPr>
              <a:t>integration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860970" y="8071918"/>
            <a:ext cx="2447952" cy="4310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000000"/>
                </a:solidFill>
                <a:latin typeface="DejaVu Sans"/>
                <a:cs typeface="DejaVu Sans"/>
              </a:rPr>
              <a:t>Mulai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000000"/>
                </a:solidFill>
                <a:latin typeface="DejaVu Sans"/>
                <a:cs typeface="DejaVu Sans"/>
              </a:rPr>
              <a:t>Pemantauan: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00000"/>
                </a:solidFill>
                <a:latin typeface="DejaVu Sans"/>
                <a:cs typeface="DejaVu Sans"/>
              </a:rPr>
              <a:t>Identiﬁkasi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7">
                <a:solidFill>
                  <a:srgbClr val="000000"/>
                </a:solidFill>
                <a:latin typeface="DejaVu Sans"/>
                <a:cs typeface="DejaVu Sans"/>
              </a:rPr>
              <a:t>perangkat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00000"/>
                </a:solidFill>
                <a:latin typeface="DejaVu Sans"/>
                <a:cs typeface="DejaVu Sans"/>
              </a:rPr>
              <a:t>dan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000000"/>
                </a:solidFill>
                <a:latin typeface="DejaVu Sans"/>
                <a:cs typeface="DejaVu Sans"/>
              </a:rPr>
              <a:t>konﬁgurasi.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4756248" y="8071918"/>
            <a:ext cx="2708337" cy="4310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0">
                <a:solidFill>
                  <a:srgbClr val="000000"/>
                </a:solidFill>
                <a:latin typeface="DejaVu Sans"/>
                <a:cs typeface="DejaVu Sans"/>
              </a:rPr>
              <a:t>Inisiasi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00000"/>
                </a:solidFill>
                <a:latin typeface="DejaVu Sans"/>
                <a:cs typeface="DejaVu Sans"/>
              </a:rPr>
              <a:t>Layanan: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000000"/>
                </a:solidFill>
                <a:latin typeface="DejaVu Sans"/>
                <a:cs typeface="DejaVu Sans"/>
              </a:rPr>
              <a:t>Windows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00000"/>
                </a:solidFill>
                <a:latin typeface="DejaVu Sans"/>
                <a:cs typeface="DejaVu Sans"/>
              </a:rPr>
              <a:t>Service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7">
                <a:solidFill>
                  <a:srgbClr val="000000"/>
                </a:solidFill>
                <a:latin typeface="DejaVu Sans"/>
                <a:cs typeface="DejaVu Sans"/>
              </a:rPr>
              <a:t>memulai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00000"/>
                </a:solidFill>
                <a:latin typeface="DejaVu Sans"/>
                <a:cs typeface="DejaVu Sans"/>
              </a:rPr>
              <a:t>`windows_service.py`.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8651526" y="8071918"/>
            <a:ext cx="3057619" cy="6405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1">
                <a:solidFill>
                  <a:srgbClr val="000000"/>
                </a:solidFill>
                <a:latin typeface="DejaVu Sans"/>
                <a:cs typeface="DejaVu Sans"/>
              </a:rPr>
              <a:t>Instalasi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00000"/>
                </a:solidFill>
                <a:latin typeface="DejaVu Sans"/>
                <a:cs typeface="DejaVu Sans"/>
              </a:rPr>
              <a:t>Layanan: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000000"/>
                </a:solidFill>
                <a:latin typeface="DejaVu Sans"/>
                <a:cs typeface="DejaVu Sans"/>
              </a:rPr>
              <a:t>Registrasi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4">
                <a:solidFill>
                  <a:srgbClr val="000000"/>
                </a:solidFill>
                <a:latin typeface="DejaVu Sans"/>
                <a:cs typeface="DejaVu Sans"/>
              </a:rPr>
              <a:t>`windows_service.py`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00000"/>
                </a:solidFill>
                <a:latin typeface="DejaVu Sans"/>
                <a:cs typeface="DejaVu Sans"/>
              </a:rPr>
              <a:t>sebagai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00000"/>
                </a:solidFill>
                <a:latin typeface="DejaVu Sans"/>
                <a:cs typeface="DejaVu Sans"/>
              </a:rPr>
              <a:t>layanan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7">
                <a:solidFill>
                  <a:srgbClr val="000000"/>
                </a:solidFill>
                <a:latin typeface="DejaVu Sans"/>
                <a:cs typeface="DejaVu Sans"/>
              </a:rPr>
              <a:t>OS.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860970" y="8586268"/>
            <a:ext cx="2690331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000000"/>
                </a:solidFill>
                <a:latin typeface="DejaVu Sans"/>
                <a:cs typeface="DejaVu Sans"/>
              </a:rPr>
              <a:t>Deteksi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000000"/>
                </a:solidFill>
                <a:latin typeface="DejaVu Sans"/>
                <a:cs typeface="DejaVu Sans"/>
              </a:rPr>
              <a:t>Perubahan: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000000"/>
                </a:solidFill>
                <a:latin typeface="DejaVu Sans"/>
                <a:cs typeface="DejaVu Sans"/>
              </a:rPr>
              <a:t>Perbandingan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8">
                <a:solidFill>
                  <a:srgbClr val="000000"/>
                </a:solidFill>
                <a:latin typeface="DejaVu Sans"/>
                <a:cs typeface="DejaVu Sans"/>
              </a:rPr>
              <a:t>konﬁgurasi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00000"/>
                </a:solidFill>
                <a:latin typeface="DejaVu Sans"/>
                <a:cs typeface="DejaVu Sans"/>
              </a:rPr>
              <a:t>secara</a:t>
            </a:r>
            <a:r>
              <a:rPr dirty="0" sz="1200" spc="-1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00000"/>
                </a:solidFill>
                <a:latin typeface="DejaVu Sans"/>
                <a:cs typeface="DejaVu Sans"/>
              </a:rPr>
              <a:t>berkelanjutan.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4756248" y="8586268"/>
            <a:ext cx="3023066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000000"/>
                </a:solidFill>
                <a:latin typeface="DejaVu Sans"/>
                <a:cs typeface="DejaVu Sans"/>
              </a:rPr>
              <a:t>Baca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000000"/>
                </a:solidFill>
                <a:latin typeface="DejaVu Sans"/>
                <a:cs typeface="DejaVu Sans"/>
              </a:rPr>
              <a:t>Konﬁgurasi: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000000"/>
                </a:solidFill>
                <a:latin typeface="DejaVu Sans"/>
                <a:cs typeface="DejaVu Sans"/>
              </a:rPr>
              <a:t>Memuat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00000"/>
                </a:solidFill>
                <a:latin typeface="DejaVu Sans"/>
                <a:cs typeface="DejaVu Sans"/>
              </a:rPr>
              <a:t>pengaturan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4">
                <a:solidFill>
                  <a:srgbClr val="000000"/>
                </a:solidFill>
                <a:latin typeface="DejaVu Sans"/>
                <a:cs typeface="DejaVu Sans"/>
              </a:rPr>
              <a:t>dari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00000"/>
                </a:solidFill>
                <a:latin typeface="DejaVu Sans"/>
                <a:cs typeface="DejaVu Sans"/>
              </a:rPr>
              <a:t>direktori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000000"/>
                </a:solidFill>
                <a:latin typeface="DejaVu Sans"/>
                <a:cs typeface="DejaVu Sans"/>
              </a:rPr>
              <a:t>`konﬁgurasi`.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8651526" y="8795818"/>
            <a:ext cx="3000678" cy="4310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8">
                <a:solidFill>
                  <a:srgbClr val="000000"/>
                </a:solidFill>
                <a:latin typeface="DejaVu Sans"/>
                <a:cs typeface="DejaVu Sans"/>
              </a:rPr>
              <a:t>Kontrol</a:t>
            </a:r>
            <a:r>
              <a:rPr dirty="0" sz="120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000000"/>
                </a:solidFill>
                <a:latin typeface="DejaVu Sans"/>
                <a:cs typeface="DejaVu Sans"/>
              </a:rPr>
              <a:t>OS: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000000"/>
                </a:solidFill>
                <a:latin typeface="DejaVu Sans"/>
                <a:cs typeface="DejaVu Sans"/>
              </a:rPr>
              <a:t>Windows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00000"/>
                </a:solidFill>
                <a:latin typeface="DejaVu Sans"/>
                <a:cs typeface="DejaVu Sans"/>
              </a:rPr>
              <a:t>mengelola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000000"/>
                </a:solidFill>
                <a:latin typeface="DejaVu Sans"/>
                <a:cs typeface="DejaVu Sans"/>
              </a:rPr>
              <a:t>siklus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2">
                <a:solidFill>
                  <a:srgbClr val="000000"/>
                </a:solidFill>
                <a:latin typeface="DejaVu Sans"/>
                <a:cs typeface="DejaVu Sans"/>
              </a:rPr>
              <a:t>hidup</a:t>
            </a:r>
            <a:r>
              <a:rPr dirty="0" sz="1200" spc="-1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00000"/>
                </a:solidFill>
                <a:latin typeface="DejaVu Sans"/>
                <a:cs typeface="DejaVu Sans"/>
              </a:rPr>
              <a:t>layanan.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860970" y="9100618"/>
            <a:ext cx="3166653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1">
                <a:solidFill>
                  <a:srgbClr val="000000"/>
                </a:solidFill>
                <a:latin typeface="DejaVu Sans"/>
                <a:cs typeface="DejaVu Sans"/>
              </a:rPr>
              <a:t>Backup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00000"/>
                </a:solidFill>
                <a:latin typeface="DejaVu Sans"/>
                <a:cs typeface="DejaVu Sans"/>
              </a:rPr>
              <a:t>Otomatis: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00000"/>
                </a:solidFill>
                <a:latin typeface="DejaVu Sans"/>
                <a:cs typeface="DejaVu Sans"/>
              </a:rPr>
              <a:t>Simpan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00000"/>
                </a:solidFill>
                <a:latin typeface="DejaVu Sans"/>
                <a:cs typeface="DejaVu Sans"/>
              </a:rPr>
              <a:t>perubahan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56">
                <a:solidFill>
                  <a:srgbClr val="000000"/>
                </a:solidFill>
                <a:latin typeface="DejaVu Sans"/>
                <a:cs typeface="DejaVu Sans"/>
              </a:rPr>
              <a:t>ke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5">
                <a:solidFill>
                  <a:srgbClr val="000000"/>
                </a:solidFill>
                <a:latin typeface="DejaVu Sans"/>
                <a:cs typeface="DejaVu Sans"/>
              </a:rPr>
              <a:t>repositori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000000"/>
                </a:solidFill>
                <a:latin typeface="DejaVu Sans"/>
                <a:cs typeface="DejaVu Sans"/>
              </a:rPr>
              <a:t>aman.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4756248" y="9100618"/>
            <a:ext cx="2719908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000000"/>
                </a:solidFill>
                <a:latin typeface="DejaVu Sans"/>
                <a:cs typeface="DejaVu Sans"/>
              </a:rPr>
              <a:t>Sinkronisasi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27">
                <a:solidFill>
                  <a:srgbClr val="000000"/>
                </a:solidFill>
                <a:latin typeface="DejaVu Sans"/>
                <a:cs typeface="DejaVu Sans"/>
              </a:rPr>
              <a:t>Awal:</a:t>
            </a:r>
            <a:r>
              <a:rPr dirty="0" sz="1200" spc="1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27">
                <a:solidFill>
                  <a:srgbClr val="000000"/>
                </a:solidFill>
                <a:latin typeface="DejaVu Sans"/>
                <a:cs typeface="DejaVu Sans"/>
              </a:rPr>
              <a:t>Veriﬁkasi</a:t>
            </a:r>
            <a:r>
              <a:rPr dirty="0" sz="1200" spc="12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00000"/>
                </a:solidFill>
                <a:latin typeface="DejaVu Sans"/>
                <a:cs typeface="DejaVu Sans"/>
              </a:rPr>
              <a:t>status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1">
                <a:solidFill>
                  <a:srgbClr val="000000"/>
                </a:solidFill>
                <a:latin typeface="DejaVu Sans"/>
                <a:cs typeface="DejaVu Sans"/>
              </a:rPr>
              <a:t>jaringan</a:t>
            </a:r>
            <a:r>
              <a:rPr dirty="0" sz="1200" spc="-1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00000"/>
                </a:solidFill>
                <a:latin typeface="DejaVu Sans"/>
                <a:cs typeface="DejaVu Sans"/>
              </a:rPr>
              <a:t>dan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000000"/>
                </a:solidFill>
                <a:latin typeface="DejaVu Sans"/>
                <a:cs typeface="DejaVu Sans"/>
              </a:rPr>
              <a:t>koneksi.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8651526" y="9310168"/>
            <a:ext cx="2736959" cy="4310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0">
                <a:solidFill>
                  <a:srgbClr val="000000"/>
                </a:solidFill>
                <a:latin typeface="DejaVu Sans"/>
                <a:cs typeface="DejaVu Sans"/>
              </a:rPr>
              <a:t>Penanganan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000000"/>
                </a:solidFill>
                <a:latin typeface="DejaVu Sans"/>
                <a:cs typeface="DejaVu Sans"/>
              </a:rPr>
              <a:t>Kegagalan: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21">
                <a:solidFill>
                  <a:srgbClr val="000000"/>
                </a:solidFill>
                <a:latin typeface="DejaVu Sans"/>
                <a:cs typeface="DejaVu Sans"/>
              </a:rPr>
              <a:t>Restart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dirty="0" sz="1200" spc="-14">
                <a:solidFill>
                  <a:srgbClr val="000000"/>
                </a:solidFill>
                <a:latin typeface="DejaVu Sans"/>
                <a:cs typeface="DejaVu Sans"/>
              </a:rPr>
              <a:t>otomatis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00000"/>
                </a:solidFill>
                <a:latin typeface="DejaVu Sans"/>
                <a:cs typeface="DejaVu Sans"/>
              </a:rPr>
              <a:t>pada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000000"/>
                </a:solidFill>
                <a:latin typeface="DejaVu Sans"/>
                <a:cs typeface="DejaVu Sans"/>
              </a:rPr>
              <a:t>kegagalan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00000"/>
                </a:solidFill>
                <a:latin typeface="DejaVu Sans"/>
                <a:cs typeface="DejaVu Sans"/>
              </a:rPr>
              <a:t>layanan.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860970" y="9614968"/>
            <a:ext cx="2721647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8">
                <a:solidFill>
                  <a:srgbClr val="000000"/>
                </a:solidFill>
                <a:latin typeface="DejaVu Sans"/>
                <a:cs typeface="DejaVu Sans"/>
              </a:rPr>
              <a:t>Peringatan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00000"/>
                </a:solidFill>
                <a:latin typeface="DejaVu Sans"/>
                <a:cs typeface="DejaVu Sans"/>
              </a:rPr>
              <a:t>Anomali: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00000"/>
                </a:solidFill>
                <a:latin typeface="DejaVu Sans"/>
                <a:cs typeface="DejaVu Sans"/>
              </a:rPr>
              <a:t>Notiﬁkasi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00000"/>
                </a:solidFill>
                <a:latin typeface="DejaVu Sans"/>
                <a:cs typeface="DejaVu Sans"/>
              </a:rPr>
              <a:t>dini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4">
                <a:solidFill>
                  <a:srgbClr val="000000"/>
                </a:solidFill>
                <a:latin typeface="DejaVu Sans"/>
                <a:cs typeface="DejaVu Sans"/>
              </a:rPr>
              <a:t>untuk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00000"/>
                </a:solidFill>
                <a:latin typeface="DejaVu Sans"/>
                <a:cs typeface="DejaVu Sans"/>
              </a:rPr>
              <a:t>penyimpangan.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4756248" y="9614968"/>
            <a:ext cx="2362386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1">
                <a:solidFill>
                  <a:srgbClr val="000000"/>
                </a:solidFill>
                <a:latin typeface="DejaVu Sans"/>
                <a:cs typeface="DejaVu Sans"/>
              </a:rPr>
              <a:t>Sistem</a:t>
            </a:r>
            <a:r>
              <a:rPr dirty="0" sz="1200" spc="-2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00000"/>
                </a:solidFill>
                <a:latin typeface="DejaVu Sans"/>
                <a:cs typeface="DejaVu Sans"/>
              </a:rPr>
              <a:t>Siap: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00000"/>
                </a:solidFill>
                <a:latin typeface="DejaVu Sans"/>
                <a:cs typeface="DejaVu Sans"/>
              </a:rPr>
              <a:t>Memulai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000000"/>
                </a:solidFill>
                <a:latin typeface="DejaVu Sans"/>
                <a:cs typeface="DejaVu Sans"/>
              </a:rPr>
              <a:t>operasi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5">
                <a:solidFill>
                  <a:srgbClr val="000000"/>
                </a:solidFill>
                <a:latin typeface="DejaVu Sans"/>
                <a:cs typeface="DejaVu Sans"/>
              </a:rPr>
              <a:t>pemantauan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00000"/>
                </a:solidFill>
                <a:latin typeface="DejaVu Sans"/>
                <a:cs typeface="DejaVu Sans"/>
              </a:rPr>
              <a:t>dan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000000"/>
                </a:solidFill>
                <a:latin typeface="DejaVu Sans"/>
                <a:cs typeface="DejaVu Sans"/>
              </a:rPr>
              <a:t>backup.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8651526" y="9824518"/>
            <a:ext cx="2851531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3">
                <a:solidFill>
                  <a:srgbClr val="000000"/>
                </a:solidFill>
                <a:latin typeface="DejaVu Sans"/>
                <a:cs typeface="DejaVu Sans"/>
              </a:rPr>
              <a:t>Komunikasi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00000"/>
                </a:solidFill>
                <a:latin typeface="DejaVu Sans"/>
                <a:cs typeface="DejaVu Sans"/>
              </a:rPr>
              <a:t>Latar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000000"/>
                </a:solidFill>
                <a:latin typeface="DejaVu Sans"/>
                <a:cs typeface="DejaVu Sans"/>
              </a:rPr>
              <a:t>Belakang: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000000"/>
                </a:solidFill>
                <a:latin typeface="DejaVu Sans"/>
                <a:cs typeface="DejaVu Sans"/>
              </a:rPr>
              <a:t>Operasi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4">
                <a:solidFill>
                  <a:srgbClr val="000000"/>
                </a:solidFill>
                <a:latin typeface="DejaVu Sans"/>
                <a:cs typeface="DejaVu Sans"/>
              </a:rPr>
              <a:t>tanpa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000000"/>
                </a:solidFill>
                <a:latin typeface="DejaVu Sans"/>
                <a:cs typeface="DejaVu Sans"/>
              </a:rPr>
              <a:t>interaksi</a:t>
            </a:r>
            <a:r>
              <a:rPr dirty="0" sz="1200">
                <a:solidFill>
                  <a:srgbClr val="000000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000000"/>
                </a:solidFill>
                <a:latin typeface="DejaVu Sans"/>
                <a:cs typeface="DejaVu Sans"/>
              </a:rPr>
              <a:t>UI.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8362442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87114" y="333807"/>
            <a:ext cx="11370198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69" b="1">
                <a:solidFill>
                  <a:srgbClr val="2c5f7f"/>
                </a:solidFill>
                <a:latin typeface="DejaVu Sans"/>
                <a:cs typeface="DejaVu Sans"/>
              </a:rPr>
              <a:t>Teknologi</a:t>
            </a:r>
            <a:r>
              <a:rPr dirty="0" sz="4050" spc="56" b="1">
                <a:solidFill>
                  <a:srgbClr val="2c5f7f"/>
                </a:solidFill>
                <a:latin typeface="DejaVu Sans"/>
                <a:cs typeface="DejaVu Sans"/>
              </a:rPr>
              <a:t> </a:t>
            </a:r>
            <a:r>
              <a:rPr dirty="0" sz="4050" spc="-14" b="1">
                <a:solidFill>
                  <a:srgbClr val="2c5f7f"/>
                </a:solidFill>
                <a:latin typeface="DejaVu Sans"/>
                <a:cs typeface="DejaVu Sans"/>
              </a:rPr>
              <a:t>Utama</a:t>
            </a:r>
            <a:r>
              <a:rPr dirty="0" sz="4050" b="1">
                <a:solidFill>
                  <a:srgbClr val="2c5f7f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5cb85c"/>
                </a:solidFill>
                <a:latin typeface="DejaVu Sans"/>
                <a:cs typeface="DejaVu Sans"/>
              </a:rPr>
              <a:t>dan</a:t>
            </a:r>
            <a:r>
              <a:rPr dirty="0" sz="4050" b="1">
                <a:solidFill>
                  <a:srgbClr val="5cb85c"/>
                </a:solidFill>
                <a:latin typeface="DejaVu Sans"/>
                <a:cs typeface="DejaVu Sans"/>
              </a:rPr>
              <a:t> </a:t>
            </a:r>
            <a:r>
              <a:rPr dirty="0" sz="4050" spc="-12" b="1">
                <a:solidFill>
                  <a:srgbClr val="5cb85c"/>
                </a:solidFill>
                <a:latin typeface="DejaVu Sans"/>
                <a:cs typeface="DejaVu Sans"/>
              </a:rPr>
              <a:t>Aspek</a:t>
            </a:r>
            <a:r>
              <a:rPr dirty="0" sz="4050" b="1">
                <a:solidFill>
                  <a:srgbClr val="5cb85c"/>
                </a:solidFill>
                <a:latin typeface="DejaVu Sans"/>
                <a:cs typeface="DejaVu Sans"/>
              </a:rPr>
              <a:t> </a:t>
            </a:r>
            <a:r>
              <a:rPr dirty="0" sz="4050" spc="-23" b="1">
                <a:solidFill>
                  <a:srgbClr val="5cb85c"/>
                </a:solidFill>
                <a:latin typeface="DejaVu Sans"/>
                <a:cs typeface="DejaVu Sans"/>
              </a:rPr>
              <a:t>Keamanan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017513" y="1001596"/>
            <a:ext cx="8309395" cy="2864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dirty="0" sz="1700" spc="-21">
                <a:solidFill>
                  <a:srgbClr val="4b5563"/>
                </a:solidFill>
                <a:latin typeface="DejaVu Sans"/>
                <a:cs typeface="DejaVu Sans"/>
              </a:rPr>
              <a:t>Pondasi</a:t>
            </a:r>
            <a:r>
              <a:rPr dirty="0" sz="1700" spc="1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700" spc="-40">
                <a:solidFill>
                  <a:srgbClr val="4b5563"/>
                </a:solidFill>
                <a:latin typeface="DejaVu Sans"/>
                <a:cs typeface="DejaVu Sans"/>
              </a:rPr>
              <a:t>Kuat</a:t>
            </a:r>
            <a:r>
              <a:rPr dirty="0" sz="1700" spc="25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700" spc="-11">
                <a:solidFill>
                  <a:srgbClr val="4b5563"/>
                </a:solidFill>
                <a:latin typeface="DejaVu Sans"/>
                <a:cs typeface="DejaVu Sans"/>
              </a:rPr>
              <a:t>untuk</a:t>
            </a:r>
            <a:r>
              <a:rPr dirty="0" sz="17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4b5563"/>
                </a:solidFill>
                <a:latin typeface="DejaVu Sans"/>
                <a:cs typeface="DejaVu Sans"/>
              </a:rPr>
              <a:t>Manajemen</a:t>
            </a:r>
            <a:r>
              <a:rPr dirty="0" sz="17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700" spc="-21">
                <a:solidFill>
                  <a:srgbClr val="4b5563"/>
                </a:solidFill>
                <a:latin typeface="DejaVu Sans"/>
                <a:cs typeface="DejaVu Sans"/>
              </a:rPr>
              <a:t>Konﬁgurasi</a:t>
            </a:r>
            <a:r>
              <a:rPr dirty="0" sz="17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4b5563"/>
                </a:solidFill>
                <a:latin typeface="DejaVu Sans"/>
                <a:cs typeface="DejaVu Sans"/>
              </a:rPr>
              <a:t>Jaringan</a:t>
            </a:r>
            <a:r>
              <a:rPr dirty="0" sz="17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4b5563"/>
                </a:solidFill>
                <a:latin typeface="DejaVu Sans"/>
                <a:cs typeface="DejaVu Sans"/>
              </a:rPr>
              <a:t>yang</a:t>
            </a:r>
            <a:r>
              <a:rPr dirty="0" sz="17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700" spc="-10">
                <a:solidFill>
                  <a:srgbClr val="4b5563"/>
                </a:solidFill>
                <a:latin typeface="DejaVu Sans"/>
                <a:cs typeface="DejaVu Sans"/>
              </a:rPr>
              <a:t>Eﬁsien</a:t>
            </a:r>
            <a:r>
              <a:rPr dirty="0" sz="17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700" spc="-12">
                <a:solidFill>
                  <a:srgbClr val="4b5563"/>
                </a:solidFill>
                <a:latin typeface="DejaVu Sans"/>
                <a:cs typeface="DejaVu Sans"/>
              </a:rPr>
              <a:t>dan</a:t>
            </a:r>
            <a:r>
              <a:rPr dirty="0" sz="17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700" spc="-15">
                <a:solidFill>
                  <a:srgbClr val="4b5563"/>
                </a:solidFill>
                <a:latin typeface="DejaVu Sans"/>
                <a:cs typeface="DejaVu Sans"/>
              </a:rPr>
              <a:t>Aman.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59098" y="1821501"/>
            <a:ext cx="2796001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Pengembangan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Inti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&amp;</a:t>
            </a:r>
            <a:r>
              <a:rPr dirty="0" sz="1500" spc="14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spc="10" b="1">
                <a:solidFill>
                  <a:srgbClr val="343a40"/>
                </a:solidFill>
                <a:latin typeface="DejaVu Sans"/>
                <a:cs typeface="DejaVu Sans"/>
              </a:rPr>
              <a:t>UI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244654" y="1821501"/>
            <a:ext cx="2083182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Interaksi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Jaringan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59098" y="2099235"/>
            <a:ext cx="2752703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5">
                <a:solidFill>
                  <a:srgbClr val="4b5563"/>
                </a:solidFill>
                <a:latin typeface="DejaVu Sans"/>
                <a:cs typeface="DejaVu Sans"/>
              </a:rPr>
              <a:t>Landasan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4b5563"/>
                </a:solidFill>
                <a:latin typeface="DejaVu Sans"/>
                <a:cs typeface="DejaVu Sans"/>
              </a:rPr>
              <a:t>pengembangan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4b5563"/>
                </a:solidFill>
                <a:latin typeface="DejaVu Sans"/>
                <a:cs typeface="DejaVu Sans"/>
              </a:rPr>
              <a:t>aplikasi.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244654" y="2099235"/>
            <a:ext cx="3600971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3">
                <a:solidFill>
                  <a:srgbClr val="4b5563"/>
                </a:solidFill>
                <a:latin typeface="DejaVu Sans"/>
                <a:cs typeface="DejaVu Sans"/>
              </a:rPr>
              <a:t>Komunikasi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4b5563"/>
                </a:solidFill>
                <a:latin typeface="DejaVu Sans"/>
                <a:cs typeface="DejaVu Sans"/>
              </a:rPr>
              <a:t>aman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4b5563"/>
                </a:solidFill>
                <a:latin typeface="DejaVu Sans"/>
                <a:cs typeface="DejaVu Sans"/>
              </a:rPr>
              <a:t>dengan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7">
                <a:solidFill>
                  <a:srgbClr val="4b5563"/>
                </a:solidFill>
                <a:latin typeface="DejaVu Sans"/>
                <a:cs typeface="DejaVu Sans"/>
              </a:rPr>
              <a:t>perangkat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4b5563"/>
                </a:solidFill>
                <a:latin typeface="DejaVu Sans"/>
                <a:cs typeface="DejaVu Sans"/>
              </a:rPr>
              <a:t>jaringan.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65659" y="2414315"/>
            <a:ext cx="797002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Python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3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408783" y="2414315"/>
            <a:ext cx="140627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Ttkbootstrap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(UI)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351215" y="2414315"/>
            <a:ext cx="1272778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Paramiko</a:t>
            </a:r>
            <a:r>
              <a:rPr dirty="0" sz="1000" spc="1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(SSH)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769994" y="2414315"/>
            <a:ext cx="1462575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spc="-10" b="1">
                <a:solidFill>
                  <a:srgbClr val="ffffff"/>
                </a:solidFill>
                <a:latin typeface="DejaVu Sans"/>
                <a:cs typeface="DejaVu Sans"/>
              </a:rPr>
              <a:t>Telnetlib3</a:t>
            </a:r>
            <a:r>
              <a:rPr dirty="0" sz="1000" spc="18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spc="-15" b="1">
                <a:solidFill>
                  <a:srgbClr val="ffffff"/>
                </a:solidFill>
                <a:latin typeface="DejaVu Sans"/>
                <a:cs typeface="DejaVu Sans"/>
              </a:rPr>
              <a:t>(Telnet)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359098" y="3145476"/>
            <a:ext cx="1979312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Manajemen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Data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7244654" y="3145476"/>
            <a:ext cx="2120104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Distribusi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Aplikasi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359098" y="3423210"/>
            <a:ext cx="2707149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4b5563"/>
                </a:solidFill>
                <a:latin typeface="DejaVu Sans"/>
                <a:cs typeface="DejaVu Sans"/>
              </a:rPr>
              <a:t>Solusi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4b5563"/>
                </a:solidFill>
                <a:latin typeface="DejaVu Sans"/>
                <a:cs typeface="DejaVu Sans"/>
              </a:rPr>
              <a:t>basis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4b5563"/>
                </a:solidFill>
                <a:latin typeface="DejaVu Sans"/>
                <a:cs typeface="DejaVu Sans"/>
              </a:rPr>
              <a:t>data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4b5563"/>
                </a:solidFill>
                <a:latin typeface="DejaVu Sans"/>
                <a:cs typeface="DejaVu Sans"/>
              </a:rPr>
              <a:t>ringan</a:t>
            </a:r>
            <a:r>
              <a:rPr dirty="0" sz="1200" spc="-1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4b5563"/>
                </a:solidFill>
                <a:latin typeface="DejaVu Sans"/>
                <a:cs typeface="DejaVu Sans"/>
              </a:rPr>
              <a:t>dan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4b5563"/>
                </a:solidFill>
                <a:latin typeface="DejaVu Sans"/>
                <a:cs typeface="DejaVu Sans"/>
              </a:rPr>
              <a:t>ORM.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244654" y="3423210"/>
            <a:ext cx="3336725" cy="22158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7">
                <a:solidFill>
                  <a:srgbClr val="4b5563"/>
                </a:solidFill>
                <a:latin typeface="DejaVu Sans"/>
                <a:cs typeface="DejaVu Sans"/>
              </a:rPr>
              <a:t>Mengemas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4b5563"/>
                </a:solidFill>
                <a:latin typeface="DejaVu Sans"/>
                <a:cs typeface="DejaVu Sans"/>
              </a:rPr>
              <a:t>aplikasi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56">
                <a:solidFill>
                  <a:srgbClr val="4b5563"/>
                </a:solidFill>
                <a:latin typeface="DejaVu Sans"/>
                <a:cs typeface="DejaVu Sans"/>
              </a:rPr>
              <a:t>ke</a:t>
            </a:r>
            <a:r>
              <a:rPr dirty="0" sz="1200" spc="33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4b5563"/>
                </a:solidFill>
                <a:latin typeface="DejaVu Sans"/>
                <a:cs typeface="DejaVu Sans"/>
              </a:rPr>
              <a:t>format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4b5563"/>
                </a:solidFill>
                <a:latin typeface="Liberation Mono"/>
                <a:cs typeface="Liberation Mono"/>
              </a:rPr>
              <a:t>executable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465659" y="3738290"/>
            <a:ext cx="104863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SQLAlchemy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660153" y="3738290"/>
            <a:ext cx="626896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SQLite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351215" y="3747815"/>
            <a:ext cx="1367273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PyInstaller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(EXE)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359098" y="4459926"/>
            <a:ext cx="2586959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Penjadwalan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Otomatis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359098" y="4747185"/>
            <a:ext cx="3551700" cy="2119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4">
                <a:solidFill>
                  <a:srgbClr val="4b5563"/>
                </a:solidFill>
                <a:latin typeface="DejaVu Sans"/>
                <a:cs typeface="DejaVu Sans"/>
              </a:rPr>
              <a:t>Otomatisasi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4b5563"/>
                </a:solidFill>
                <a:latin typeface="DejaVu Sans"/>
                <a:cs typeface="DejaVu Sans"/>
              </a:rPr>
              <a:t>tugas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21">
                <a:solidFill>
                  <a:srgbClr val="4b5563"/>
                </a:solidFill>
                <a:latin typeface="DejaVu Sans"/>
                <a:cs typeface="DejaVu Sans"/>
              </a:rPr>
              <a:t>backup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4b5563"/>
                </a:solidFill>
                <a:latin typeface="DejaVu Sans"/>
                <a:cs typeface="DejaVu Sans"/>
              </a:rPr>
              <a:t>dan</a:t>
            </a:r>
            <a:r>
              <a:rPr dirty="0" sz="120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4b5563"/>
                </a:solidFill>
                <a:latin typeface="DejaVu Sans"/>
                <a:cs typeface="DejaVu Sans"/>
              </a:rPr>
              <a:t>pemeliharaan.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465659" y="5052740"/>
            <a:ext cx="1067951" cy="18711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dirty="0" sz="1000" b="1">
                <a:solidFill>
                  <a:srgbClr val="ffffff"/>
                </a:solidFill>
                <a:latin typeface="DejaVu Sans"/>
                <a:cs typeface="DejaVu Sans"/>
              </a:rPr>
              <a:t>APScheduler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095231" y="5869626"/>
            <a:ext cx="1896998" cy="26162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Kriptograﬁ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Kuat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7095231" y="6156885"/>
            <a:ext cx="4686472" cy="4310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20">
                <a:solidFill>
                  <a:srgbClr val="374151"/>
                </a:solidFill>
                <a:latin typeface="DejaVu Sans"/>
                <a:cs typeface="DejaVu Sans"/>
              </a:rPr>
              <a:t>Pustaka</a:t>
            </a:r>
            <a:r>
              <a:rPr dirty="0" sz="12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374151"/>
                </a:solidFill>
                <a:latin typeface="Liberation Mono"/>
                <a:cs typeface="Liberation Mono"/>
              </a:rPr>
              <a:t>cryptography</a:t>
            </a:r>
            <a:r>
              <a:rPr dirty="0" sz="1200" spc="74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dirty="0" sz="1200" spc="-15">
                <a:solidFill>
                  <a:srgbClr val="374151"/>
                </a:solidFill>
                <a:latin typeface="DejaVu Sans"/>
                <a:cs typeface="DejaVu Sans"/>
              </a:rPr>
              <a:t>dengan</a:t>
            </a:r>
            <a:r>
              <a:rPr dirty="0" sz="12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200" spc="-20">
                <a:solidFill>
                  <a:srgbClr val="374151"/>
                </a:solidFill>
                <a:latin typeface="DejaVu Sans"/>
                <a:cs typeface="DejaVu Sans"/>
              </a:rPr>
              <a:t>Fernet/AES-128</a:t>
            </a:r>
            <a:r>
              <a:rPr dirty="0" sz="12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374151"/>
                </a:solidFill>
                <a:latin typeface="DejaVu Sans"/>
                <a:cs typeface="DejaVu Sans"/>
              </a:rPr>
              <a:t>dan</a:t>
            </a:r>
            <a:r>
              <a:rPr dirty="0" sz="12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374151"/>
                </a:solidFill>
                <a:latin typeface="DejaVu Sans"/>
                <a:cs typeface="DejaVu Sans"/>
              </a:rPr>
              <a:t>PBKDF2-</a:t>
            </a:r>
          </a:p>
          <a:p>
            <a:pPr marL="0" marR="0">
              <a:lnSpc>
                <a:spcPts val="1368"/>
              </a:lnSpc>
              <a:spcBef>
                <a:spcPts val="230"/>
              </a:spcBef>
              <a:spcAft>
                <a:spcPts val="0"/>
              </a:spcAft>
            </a:pPr>
            <a:r>
              <a:rPr dirty="0" sz="1200" spc="-18">
                <a:solidFill>
                  <a:srgbClr val="374151"/>
                </a:solidFill>
                <a:latin typeface="DejaVu Sans"/>
                <a:cs typeface="DejaVu Sans"/>
              </a:rPr>
              <a:t>HMAC-SHA256</a:t>
            </a:r>
            <a:r>
              <a:rPr dirty="0" sz="12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200" spc="-14">
                <a:solidFill>
                  <a:srgbClr val="374151"/>
                </a:solidFill>
                <a:latin typeface="DejaVu Sans"/>
                <a:cs typeface="DejaVu Sans"/>
              </a:rPr>
              <a:t>untuk</a:t>
            </a:r>
            <a:r>
              <a:rPr dirty="0" sz="12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374151"/>
                </a:solidFill>
                <a:latin typeface="DejaVu Sans"/>
                <a:cs typeface="DejaVu Sans"/>
              </a:rPr>
              <a:t>enkripsi</a:t>
            </a:r>
            <a:r>
              <a:rPr dirty="0" sz="12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374151"/>
                </a:solidFill>
                <a:latin typeface="DejaVu Sans"/>
                <a:cs typeface="DejaVu Sans"/>
              </a:rPr>
              <a:t>data</a:t>
            </a:r>
            <a:r>
              <a:rPr dirty="0" sz="12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200" spc="-21">
                <a:solidFill>
                  <a:srgbClr val="374151"/>
                </a:solidFill>
                <a:latin typeface="DejaVu Sans"/>
                <a:cs typeface="DejaVu Sans"/>
              </a:rPr>
              <a:t>sensitif.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7095231" y="7117401"/>
            <a:ext cx="3875090" cy="261628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Integritas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&amp;</a:t>
            </a:r>
            <a:r>
              <a:rPr dirty="0" sz="1500" spc="14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Keamanan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1500" b="1">
                <a:solidFill>
                  <a:srgbClr val="343a40"/>
                </a:solidFill>
                <a:latin typeface="DejaVu Sans"/>
                <a:cs typeface="DejaVu Sans"/>
              </a:rPr>
              <a:t>Kredensial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7095231" y="7404660"/>
            <a:ext cx="4515584" cy="4215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dirty="0" sz="1200" spc="-12">
                <a:solidFill>
                  <a:srgbClr val="374151"/>
                </a:solidFill>
                <a:latin typeface="DejaVu Sans"/>
                <a:cs typeface="DejaVu Sans"/>
              </a:rPr>
              <a:t>Enkripsi</a:t>
            </a:r>
            <a:r>
              <a:rPr dirty="0" sz="12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374151"/>
                </a:solidFill>
                <a:latin typeface="DejaVu Sans"/>
                <a:cs typeface="DejaVu Sans"/>
              </a:rPr>
              <a:t>kredensial</a:t>
            </a:r>
            <a:r>
              <a:rPr dirty="0" sz="12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374151"/>
                </a:solidFill>
                <a:latin typeface="DejaVu Sans"/>
                <a:cs typeface="DejaVu Sans"/>
              </a:rPr>
              <a:t>dan</a:t>
            </a:r>
            <a:r>
              <a:rPr dirty="0" sz="12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200" spc="-27">
                <a:solidFill>
                  <a:srgbClr val="374151"/>
                </a:solidFill>
                <a:latin typeface="DejaVu Sans"/>
                <a:cs typeface="DejaVu Sans"/>
              </a:rPr>
              <a:t>Veriﬁkasi</a:t>
            </a:r>
            <a:r>
              <a:rPr dirty="0" sz="1200" spc="12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200" spc="-11">
                <a:solidFill>
                  <a:srgbClr val="374151"/>
                </a:solidFill>
                <a:latin typeface="DejaVu Sans"/>
                <a:cs typeface="DejaVu Sans"/>
              </a:rPr>
              <a:t>integritas</a:t>
            </a:r>
            <a:r>
              <a:rPr dirty="0" sz="12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200" spc="-10">
                <a:solidFill>
                  <a:srgbClr val="374151"/>
                </a:solidFill>
                <a:latin typeface="DejaVu Sans"/>
                <a:cs typeface="DejaVu Sans"/>
              </a:rPr>
              <a:t>ﬁle</a:t>
            </a:r>
            <a:r>
              <a:rPr dirty="0" sz="1200" spc="-11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200" spc="-18">
                <a:solidFill>
                  <a:srgbClr val="374151"/>
                </a:solidFill>
                <a:latin typeface="DejaVu Sans"/>
                <a:cs typeface="DejaVu Sans"/>
              </a:rPr>
              <a:t>konﬁgurasi</a:t>
            </a:r>
          </a:p>
          <a:p>
            <a:pPr marL="0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dirty="0" sz="1200" spc="-14">
                <a:solidFill>
                  <a:srgbClr val="374151"/>
                </a:solidFill>
                <a:latin typeface="DejaVu Sans"/>
                <a:cs typeface="DejaVu Sans"/>
              </a:rPr>
              <a:t>untuk</a:t>
            </a:r>
            <a:r>
              <a:rPr dirty="0" sz="120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200" spc="-12">
                <a:solidFill>
                  <a:srgbClr val="374151"/>
                </a:solidFill>
                <a:latin typeface="DejaVu Sans"/>
                <a:cs typeface="DejaVu Sans"/>
              </a:rPr>
              <a:t>perlindungan</a:t>
            </a:r>
            <a:r>
              <a:rPr dirty="0" sz="1200" spc="-1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dirty="0" sz="1200" spc="-15">
                <a:solidFill>
                  <a:srgbClr val="374151"/>
                </a:solidFill>
                <a:latin typeface="DejaVu Sans"/>
                <a:cs typeface="DejaVu Sans"/>
              </a:rPr>
              <a:t>maksimal.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245619" y="877240"/>
            <a:ext cx="3853176" cy="63417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dirty="0" sz="4050" spc="-99" b="1">
                <a:solidFill>
                  <a:srgbClr val="343a40"/>
                </a:solidFill>
                <a:latin typeface="DejaVu Sans"/>
                <a:cs typeface="DejaVu Sans"/>
              </a:rPr>
              <a:t>Terima</a:t>
            </a:r>
            <a:r>
              <a:rPr dirty="0" sz="4050" spc="81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4050" spc="-10" b="1">
                <a:solidFill>
                  <a:srgbClr val="5cb85c"/>
                </a:solidFill>
                <a:latin typeface="DejaVu Sans"/>
                <a:cs typeface="DejaVu Sans"/>
              </a:rPr>
              <a:t>Kasih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19931" y="3705695"/>
            <a:ext cx="3699836" cy="33613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spc="10" b="1">
                <a:solidFill>
                  <a:srgbClr val="343a40"/>
                </a:solidFill>
                <a:latin typeface="DejaVu Sans"/>
                <a:cs typeface="DejaVu Sans"/>
              </a:rPr>
              <a:t>Diskusi</a:t>
            </a:r>
            <a:r>
              <a:rPr dirty="0" sz="20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343a40"/>
                </a:solidFill>
                <a:latin typeface="DejaVu Sans"/>
                <a:cs typeface="DejaVu Sans"/>
              </a:rPr>
              <a:t>dan</a:t>
            </a:r>
            <a:r>
              <a:rPr dirty="0" sz="2000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2000" spc="-43" b="1">
                <a:solidFill>
                  <a:srgbClr val="343a40"/>
                </a:solidFill>
                <a:latin typeface="DejaVu Sans"/>
                <a:cs typeface="DejaVu Sans"/>
              </a:rPr>
              <a:t>Tanya</a:t>
            </a:r>
            <a:r>
              <a:rPr dirty="0" sz="2000" spc="58" b="1">
                <a:solidFill>
                  <a:srgbClr val="343a40"/>
                </a:solidFill>
                <a:latin typeface="DejaVu Sans"/>
                <a:cs typeface="DejaVu Sans"/>
              </a:rPr>
              <a:t> </a:t>
            </a:r>
            <a:r>
              <a:rPr dirty="0" sz="2000" spc="10" b="1">
                <a:solidFill>
                  <a:srgbClr val="343a40"/>
                </a:solidFill>
                <a:latin typeface="DejaVu Sans"/>
                <a:cs typeface="DejaVu Sans"/>
              </a:rPr>
              <a:t>Jawab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PresentationFormat>On-screen Show (4:3)</PresentationFormat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cp:revision>1</cp:revision>
  <dcterms:modified xsi:type="dcterms:W3CDTF">2025-11-07T02:02:11+00:00</dcterms:modified>
</cp:coreProperties>
</file>